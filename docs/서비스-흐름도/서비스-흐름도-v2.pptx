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762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300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서비스 흐름도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990600"/>
            <a:ext cx="7810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1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비로그인·개인(301)·기업(302)이 각 서비스를 어떻게 지나가는지 실제 화면으로 정리했습니다.</a:t>
            </a:r>
          </a:p>
          <a:p>
            <a:pPr algn="l">
              <a:lnSpc>
                <a:spcPct val="144000"/>
              </a:lnSpc>
            </a:pPr>
            <a:r>
              <a:rPr sz="11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서비스마다 전체 흐름 1장 → 단계별 화면 → 상태 전이도 순서입니다. 기준은 현재 코드입니다.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5000" y="12573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77400" y="121920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44150" y="12573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550" y="121920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96600" y="12573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0" y="1219200"/>
            <a:ext cx="666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1676400"/>
            <a:ext cx="27432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450" y="1828800"/>
            <a:ext cx="2171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4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프로젝트 공고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4785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219075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기업 등록 → 개인 지원</a:t>
            </a:r>
          </a:p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인터뷰 확정(805)까지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450" y="3695700"/>
            <a:ext cx="774700" cy="5715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65249" y="3695700"/>
            <a:ext cx="774700" cy="5715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78050" y="3695700"/>
            <a:ext cx="774700" cy="5715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76600" y="1676400"/>
            <a:ext cx="27432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8050" y="1828800"/>
            <a:ext cx="2171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4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8800" y="184785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8050" y="219075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지원·소속 신청에 쓰임</a:t>
            </a:r>
          </a:p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기업이 열람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8050" y="3695700"/>
            <a:ext cx="2400300" cy="5715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1676400"/>
            <a:ext cx="27432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3650" y="1828800"/>
            <a:ext cx="2171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4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파트너(소속)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400" y="184785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3650" y="219075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소속 신청 → 합격 → 재직</a:t>
            </a:r>
          </a:p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기업 대리지원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3650" y="3695700"/>
            <a:ext cx="1181100" cy="5715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62850" y="3695700"/>
            <a:ext cx="1181100" cy="5715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67800" y="1676400"/>
            <a:ext cx="27432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1828800"/>
            <a:ext cx="2171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4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회원/계정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184785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0" y="219075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모든 서비스의 입구</a:t>
            </a:r>
          </a:p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개인·기업 로그인 분리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9250" y="3695700"/>
            <a:ext cx="774700" cy="5715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52050" y="3695700"/>
            <a:ext cx="774700" cy="5715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864850" y="3695700"/>
            <a:ext cx="774700" cy="5715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1000" y="4076700"/>
            <a:ext cx="27432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2450" y="4229100"/>
            <a:ext cx="2171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4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연봉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24815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2450" y="459105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계산기 → 리포트 → 추천</a:t>
            </a:r>
          </a:p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추천은 공고로 연결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2450" y="6096000"/>
            <a:ext cx="1181100" cy="5715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771650" y="6096000"/>
            <a:ext cx="1181100" cy="5715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76600" y="4076700"/>
            <a:ext cx="27432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48050" y="4229100"/>
            <a:ext cx="2171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4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커뮤니티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8800" y="424815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8050" y="459105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5개 게시판·답변 채택</a:t>
            </a:r>
          </a:p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역할 차이 없음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48050" y="6096000"/>
            <a:ext cx="1181100" cy="5715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667250" y="6096000"/>
            <a:ext cx="1181100" cy="5715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72200" y="4076700"/>
            <a:ext cx="27432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3650" y="4229100"/>
            <a:ext cx="2171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4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투표·면접후기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34400" y="424815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3650" y="459105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누구나 열람</a:t>
            </a:r>
          </a:p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작성은 로그인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43650" y="6096000"/>
            <a:ext cx="1181100" cy="5715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562850" y="6096000"/>
            <a:ext cx="1181100" cy="5715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67800" y="4076700"/>
            <a:ext cx="2743200" cy="22479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9250" y="4229100"/>
            <a:ext cx="2171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4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고객센터·마이페이지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4248150"/>
            <a:ext cx="209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9250" y="4591050"/>
            <a:ext cx="2400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공지·VOC·캘린더·알림</a:t>
            </a:r>
          </a:p>
          <a:p>
            <a:pPr algn="l">
              <a:lnSpc>
                <a:spcPct val="144000"/>
              </a:lnSpc>
            </a:pPr>
            <a:r>
              <a:rPr sz="105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관리자(BO) 연결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39250" y="6096000"/>
            <a:ext cx="1181100" cy="5715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458450" y="6096000"/>
            <a:ext cx="1181100" cy="5715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Ctrl + F · 서비스 흐름도 v2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공고 등록부터 인터뷰 확정까지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5715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번호 = 다음 장부터 이어지는 단계별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028700"/>
            <a:ext cx="11430000" cy="1267883"/>
          </a:xfrm>
          <a:prstGeom prst="roundRect">
            <a:avLst>
              <a:gd name="adj" fmla="val 4507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430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2353733"/>
            <a:ext cx="11430000" cy="1956858"/>
          </a:xfrm>
          <a:prstGeom prst="roundRect">
            <a:avLst>
              <a:gd name="adj" fmla="val 292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2468033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4367741"/>
            <a:ext cx="11430000" cy="1956858"/>
          </a:xfrm>
          <a:prstGeom prst="roundRect">
            <a:avLst>
              <a:gd name="adj" fmla="val 292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4482041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3883" y="2844799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62866" y="2844799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39066" y="2768599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인증 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41850" y="2844799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99983" y="3602566"/>
            <a:ext cx="1178983" cy="898525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27575" y="3975629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알림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20833" y="485880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99816" y="485880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636933" y="3621616"/>
            <a:ext cx="1178983" cy="879475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64525" y="3985154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알림+메일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15916" y="3602566"/>
            <a:ext cx="1178984" cy="898525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443508" y="3975629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알림+메일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536766" y="485880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s01_guest_to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181100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6" name="Rounded Rectangle 25"/>
          <p:cNvSpPr/>
          <p:nvPr/>
        </p:nvSpPr>
        <p:spPr>
          <a:xfrm>
            <a:off x="11430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1915583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목록·상세 열람</a:t>
            </a:r>
          </a:p>
        </p:txBody>
      </p:sp>
      <p:pic>
        <p:nvPicPr>
          <p:cNvPr id="29" name="Picture 28" descr="s02_corp_register_bt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0" name="Rounded Rectangle 29"/>
          <p:cNvSpPr/>
          <p:nvPr/>
        </p:nvSpPr>
        <p:spPr>
          <a:xfrm>
            <a:off x="1143000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0150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[프로젝트 등록하기] 클릭</a:t>
            </a:r>
          </a:p>
        </p:txBody>
      </p:sp>
      <p:pic>
        <p:nvPicPr>
          <p:cNvPr id="33" name="Picture 32" descr="s03_corp_auth_di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133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4" name="Rounded Rectangle 33"/>
          <p:cNvSpPr/>
          <p:nvPr/>
        </p:nvSpPr>
        <p:spPr>
          <a:xfrm>
            <a:off x="2321983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21983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9133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인증 안내창</a:t>
            </a:r>
          </a:p>
        </p:txBody>
      </p:sp>
      <p:pic>
        <p:nvPicPr>
          <p:cNvPr id="37" name="Picture 36" descr="s04_corp_post_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116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8" name="Rounded Rectangle 37"/>
          <p:cNvSpPr/>
          <p:nvPr/>
        </p:nvSpPr>
        <p:spPr>
          <a:xfrm>
            <a:off x="3500966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00966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58116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공고 등록 폼</a:t>
            </a:r>
          </a:p>
        </p:txBody>
      </p:sp>
      <p:pic>
        <p:nvPicPr>
          <p:cNvPr id="41" name="Picture 40" descr="s05_corp_post_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7100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2" name="Rounded Rectangle 41"/>
          <p:cNvSpPr/>
          <p:nvPr/>
        </p:nvSpPr>
        <p:spPr>
          <a:xfrm>
            <a:off x="4679950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9950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37100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공고 목록</a:t>
            </a:r>
          </a:p>
        </p:txBody>
      </p:sp>
      <p:pic>
        <p:nvPicPr>
          <p:cNvPr id="45" name="Picture 44" descr="s06_pers_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7100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6" name="Rounded Rectangle 45"/>
          <p:cNvSpPr/>
          <p:nvPr/>
        </p:nvSpPr>
        <p:spPr>
          <a:xfrm>
            <a:off x="4679950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79950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37100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검색·필터</a:t>
            </a:r>
          </a:p>
        </p:txBody>
      </p:sp>
      <p:pic>
        <p:nvPicPr>
          <p:cNvPr id="49" name="Picture 48" descr="s07_pers_deta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6083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0" name="Rounded Rectangle 49"/>
          <p:cNvSpPr/>
          <p:nvPr/>
        </p:nvSpPr>
        <p:spPr>
          <a:xfrm>
            <a:off x="5858933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8933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16083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공고 상세 → [지원하기]</a:t>
            </a:r>
          </a:p>
        </p:txBody>
      </p:sp>
      <p:pic>
        <p:nvPicPr>
          <p:cNvPr id="53" name="Picture 52" descr="s08_pers_resume_dialo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5066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4" name="Rounded Rectangle 53"/>
          <p:cNvSpPr/>
          <p:nvPr/>
        </p:nvSpPr>
        <p:spPr>
          <a:xfrm>
            <a:off x="7037916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37916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5066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이력서 골라 제출 → 801</a:t>
            </a:r>
          </a:p>
        </p:txBody>
      </p:sp>
      <p:pic>
        <p:nvPicPr>
          <p:cNvPr id="57" name="Picture 56" descr="s09_corp_apply_stat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4050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8" name="Rounded Rectangle 57"/>
          <p:cNvSpPr/>
          <p:nvPr/>
        </p:nvSpPr>
        <p:spPr>
          <a:xfrm>
            <a:off x="8216900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16900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4050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지원현황 모달</a:t>
            </a:r>
          </a:p>
        </p:txBody>
      </p:sp>
      <p:pic>
        <p:nvPicPr>
          <p:cNvPr id="61" name="Picture 60" descr="s10_pers_interview_selec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53033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2" name="Rounded Rectangle 61"/>
          <p:cNvSpPr/>
          <p:nvPr/>
        </p:nvSpPr>
        <p:spPr>
          <a:xfrm>
            <a:off x="9395883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95883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53033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인터뷰 시간 선택</a:t>
            </a:r>
          </a:p>
        </p:txBody>
      </p:sp>
      <p:pic>
        <p:nvPicPr>
          <p:cNvPr id="65" name="Picture 64" descr="s11_pers_calenda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32016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6" name="Rounded Rectangle 65"/>
          <p:cNvSpPr/>
          <p:nvPr/>
        </p:nvSpPr>
        <p:spPr>
          <a:xfrm>
            <a:off x="10574866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74866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32016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⑥ 캘린더에 면접 일정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1000" y="6381750"/>
            <a:ext cx="1143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[지원취소] 806 · [불합격] 802 는 단계 8·9 장과 상태 전이도에 있습니다. 기업이 소속원을 대신 지원시키는 경로는 3. 파트너(소속).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1/11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목록·상세 열람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1_guest_to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공고 목록과 상세는 로그인 없이 볼 수 있다.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스크랩·지원을 누르면 「로그인이 필요합니다」 토스트가 뜬다.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/mypage 로 들어가면 로그인 뒤 원래 화면으로 돌아온다.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[프로젝트 등록하기] 클릭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2/11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[프로젝트 등록하기] 클릭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2_corp_register_b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목록 맨 아래의 등록 버튼은 기업 회원에게만 보인다.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기업 인증 안내창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3/11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인증 안내창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3_corp_auth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인증 전(2501)이면 「기업 인증 필요」 안내창이 뜬다.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[확인]을 누르면 인증 페이지로 이동한다.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인증이 끝난 기업(2502)은 바로 등록 폼으로 간다.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공고 등록 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4/11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공고 등록 폼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corp_pos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/mypage/project-post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제목·근무지·모집 인원·학력·기간·단가를 입력해 등록한다.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등록하면 이 기업을 즐겨찾기한 사용자에게 알림이 간다(메일은 보내지 않음).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공고 목록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5/11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공고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5_corp_post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/mypage/affiliation-projects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상태는 날짜로 자동 계산된다: 채용예정 → 채용중 → 지원마감.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종료일이 지나면 자동으로 마감되고, 조기 마감 기능은 없다.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수정·삭제할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검색·필터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6/11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검색·필터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6_pers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키워드와 상세 필터(지역·경력·학력·직종·거리·단가)로 찾는다.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하트를 누르면 스크랩되어 스크랩 목록과 캘린더에 담긴다.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공고 상세 → [지원하기]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7/11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공고 상세 → [지원하기]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7_pers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/projects/user/{공고번호}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[지원하기]는 채용중인 공고에만 보인다.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채용예정·마감·삭제된 공고는 서버도 지원을 거절한다.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③ 이력서 골라 제출 → 801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8/11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이력서 골라 제출 → 801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8_pers_resume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이력서 선택 모달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이력서 선택은 필수다(없으면 이력서 등록으로 안내).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제출하면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801 지원중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 되고 기업에 알림+메일이 간다.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[지원취소] → 806, 기업에 알림. </a:t>
            </a: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지원중(801)일 때만 가능(서버도 확인).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④ 지원현황 모달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9/11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지원현황 모달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9_corp_appl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공고 목록 → 지원현황 바로가기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이력서를 열람할 수 있고, 열면 지원자 화면에 열람일이 찍힌다.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[불합격] →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802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, 개인에게 알림+메일.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[인터뷰 요청] →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804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, 개인에게 알림+메일.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새 지원자·지원취소 알림을 누르면 이 모달이 바로 열린다.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⑤ 인터뷰 시간 선택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10/11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인터뷰 시간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10_pers_interview_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/mypage/applied-projects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지원 내역의 [인터뷰 요청중]을 누르면 기업이 낸 후보 시간이 뜬다.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하나를 고르면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805 인터뷰 확정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, 기업에 알림+메일.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⑥ 캘린더에 면접 일정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단계 11/11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⑥ 캘린더에 면접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11_pers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790575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790575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기업·개인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/mypage/calendar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인터뷰가 확정되면 기업·개인 양쪽 캘린더에 일정이 잡힌다.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여기서 흐름이 끝난다(최종 합격 803을 처리하는 화면은 없음).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상태 전이도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1. 프로젝트 공고 · 상태 전이도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공고 상태와 지원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4390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기업이 바꿈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9165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4405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개인이 바꿈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9180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667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028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공고 상태 — 날짜로 자동 계산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1276350"/>
            <a:ext cx="1428750" cy="476250"/>
          </a:xfrm>
          <a:prstGeom prst="roundRect">
            <a:avLst>
              <a:gd name="adj" fmla="val 16000"/>
            </a:avLst>
          </a:prstGeom>
          <a:solidFill>
            <a:srgbClr val="ECEEED"/>
          </a:solidFill>
          <a:ln w="14287">
            <a:solidFill>
              <a:srgbClr val="7C8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127635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채용예정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1750" y="1276350"/>
            <a:ext cx="1428750" cy="476250"/>
          </a:xfrm>
          <a:prstGeom prst="roundRect">
            <a:avLst>
              <a:gd name="adj" fmla="val 16000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1750" y="127635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채용중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2500" y="1276350"/>
            <a:ext cx="1428750" cy="476250"/>
          </a:xfrm>
          <a:prstGeom prst="roundRect">
            <a:avLst>
              <a:gd name="adj" fmla="val 16000"/>
            </a:avLst>
          </a:prstGeom>
          <a:solidFill>
            <a:srgbClr val="ECEEED"/>
          </a:solidFill>
          <a:ln w="14287">
            <a:solidFill>
              <a:srgbClr val="7C8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2500" y="127635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지원마감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09750" y="1514475"/>
            <a:ext cx="74295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66900" y="1295400"/>
            <a:ext cx="666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시작일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00500" y="1514475"/>
            <a:ext cx="74295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57650" y="1295400"/>
            <a:ext cx="666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종료일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0" y="1295400"/>
            <a:ext cx="495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조기 마감 기능 없음</a:t>
            </a:r>
          </a:p>
          <a:p>
            <a:pPr algn="l">
              <a:lnSpc>
                <a:spcPct val="144000"/>
              </a:lnSpc>
            </a:pPr>
            <a:r>
              <a:rPr sz="97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채용중이 아니면 서버도 지원을 거절한다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000250"/>
            <a:ext cx="1143000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000" y="21145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지원 상태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1000" y="400050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000" y="40767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채용중 공고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43243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이력서 선택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57500" y="4000500"/>
            <a:ext cx="152400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57500" y="40767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지원중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7500" y="43243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000500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407670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인터뷰 요청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3243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67750" y="4000500"/>
            <a:ext cx="1905000" cy="590550"/>
          </a:xfrm>
          <a:prstGeom prst="roundRect">
            <a:avLst>
              <a:gd name="adj" fmla="val 12903"/>
            </a:avLst>
          </a:prstGeom>
          <a:solidFill>
            <a:srgbClr val="E1EFED"/>
          </a:solidFill>
          <a:ln w="14287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7750" y="40767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인터뷰 확정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7750" y="43243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805 · 흐름 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57500" y="2495550"/>
            <a:ext cx="1524000" cy="552450"/>
          </a:xfrm>
          <a:prstGeom prst="roundRect">
            <a:avLst>
              <a:gd name="adj" fmla="val 13793"/>
            </a:avLst>
          </a:prstGeom>
          <a:solidFill>
            <a:srgbClr val="ECEEED"/>
          </a:solidFill>
          <a:ln w="14287">
            <a:solidFill>
              <a:srgbClr val="7C8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7500" y="25717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지원취소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7500" y="28194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806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0" y="5524500"/>
            <a:ext cx="1619250" cy="552450"/>
          </a:xfrm>
          <a:prstGeom prst="roundRect">
            <a:avLst>
              <a:gd name="adj" fmla="val 13793"/>
            </a:avLst>
          </a:prstGeom>
          <a:solidFill>
            <a:srgbClr val="ECEEED"/>
          </a:solidFill>
          <a:ln w="14287">
            <a:solidFill>
              <a:srgbClr val="7C8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0" y="560070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불합격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58483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802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67750" y="552450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7">
            <a:solidFill>
              <a:srgbClr val="D5D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7750" y="56007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최종 합격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7750" y="58483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803 · 처리 화면 없음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809750" y="4295775"/>
            <a:ext cx="10287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905000" y="40576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지원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381500" y="4295775"/>
            <a:ext cx="131445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476750" y="40576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인터뷰 요청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76750" y="438150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알림+메일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334250" y="4295775"/>
            <a:ext cx="131445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429500" y="40576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시간 선택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0" y="438150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양쪽 캘린더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3619500" y="3067050"/>
            <a:ext cx="0" cy="93345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733800" y="32385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지원취소</a:t>
            </a:r>
          </a:p>
          <a:p>
            <a:pPr algn="l">
              <a:lnSpc>
                <a:spcPct val="126000"/>
              </a:lnSpc>
            </a:pPr>
            <a:r>
              <a:rPr sz="97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801에서만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191000" y="4591050"/>
            <a:ext cx="1504950" cy="112395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952750" y="53340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60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불합격</a:t>
            </a:r>
          </a:p>
          <a:p>
            <a:pPr algn="r">
              <a:lnSpc>
                <a:spcPct val="1260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알림+메일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620250" y="4591050"/>
            <a:ext cx="0" cy="914400"/>
          </a:xfrm>
          <a:prstGeom prst="line">
            <a:avLst/>
          </a:prstGeom>
          <a:ln w="15240">
            <a:solidFill>
              <a:srgbClr val="66706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81000" y="5143500"/>
            <a:ext cx="3143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소속원이 퇴사하면(3. 파트너)</a:t>
            </a:r>
          </a:p>
          <a:p>
            <a:pPr algn="l">
              <a:lnSpc>
                <a:spcPct val="144000"/>
              </a:lnSpc>
            </a:pPr>
            <a:r>
              <a:rPr sz="97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그 기업의 진행 중 대리지원 → 806 자동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5500" y="2381250"/>
            <a:ext cx="5334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97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상태 변경 API는 당사자만 부를 수 있다</a:t>
            </a:r>
          </a:p>
          <a:p>
            <a:pPr algn="l">
              <a:lnSpc>
                <a:spcPct val="1440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· 불합격·인터뷰 요청: 공고를 올린 회사</a:t>
            </a:r>
          </a:p>
          <a:p>
            <a:pPr algn="l">
              <a:lnSpc>
                <a:spcPct val="1440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· 지원취소·시간 선택: 지원자 본인(대리지원이면 그 회사)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1. 프로젝트 공고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이력서를 쓰고, 지원에 쓰이고, 기업이 열람하기까지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5715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번호 = 다음 장부터 이어지는 단계별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028700"/>
            <a:ext cx="11430000" cy="1359991"/>
          </a:xfrm>
          <a:prstGeom prst="roundRect">
            <a:avLst>
              <a:gd name="adj" fmla="val 4202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430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2445841"/>
            <a:ext cx="11430000" cy="1910804"/>
          </a:xfrm>
          <a:prstGeom prst="roundRect">
            <a:avLst>
              <a:gd name="adj" fmla="val 299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2560141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4413795"/>
            <a:ext cx="11430000" cy="1910804"/>
          </a:xfrm>
          <a:prstGeom prst="roundRect">
            <a:avLst>
              <a:gd name="adj" fmla="val 299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4528095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31256" y="4950916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57612" y="4950916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83968" y="4950916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10325" y="4950916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21128" y="3805832"/>
            <a:ext cx="1326356" cy="741313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22406" y="4100289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지원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47484" y="3786782"/>
            <a:ext cx="2652712" cy="760363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811940" y="4090764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열람일 기록</a:t>
            </a:r>
          </a:p>
        </p:txBody>
      </p:sp>
      <p:pic>
        <p:nvPicPr>
          <p:cNvPr id="20" name="Picture 19" descr="r01_guest_re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181100"/>
            <a:ext cx="1231106" cy="769441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1" name="Rounded Rectangle 20"/>
          <p:cNvSpPr/>
          <p:nvPr/>
        </p:nvSpPr>
        <p:spPr>
          <a:xfrm>
            <a:off x="11430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50" y="2007691"/>
            <a:ext cx="12311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이력서 메뉴 접근</a:t>
            </a:r>
          </a:p>
        </p:txBody>
      </p:sp>
      <p:pic>
        <p:nvPicPr>
          <p:cNvPr id="24" name="Picture 23" descr="r02_pers_resume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4566195"/>
            <a:ext cx="1231106" cy="769441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5" name="Rounded Rectangle 24"/>
          <p:cNvSpPr/>
          <p:nvPr/>
        </p:nvSpPr>
        <p:spPr>
          <a:xfrm>
            <a:off x="1143000" y="45090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509045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150" y="5392787"/>
            <a:ext cx="12311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이력서 작성</a:t>
            </a:r>
          </a:p>
        </p:txBody>
      </p:sp>
      <p:pic>
        <p:nvPicPr>
          <p:cNvPr id="28" name="Picture 27" descr="r03_pers_edu_man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506" y="4566195"/>
            <a:ext cx="1231106" cy="769441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9" name="Rounded Rectangle 28"/>
          <p:cNvSpPr/>
          <p:nvPr/>
        </p:nvSpPr>
        <p:spPr>
          <a:xfrm>
            <a:off x="2469356" y="45090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9356" y="4509045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26506" y="5392787"/>
            <a:ext cx="12311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학력 [직접 입력]</a:t>
            </a:r>
          </a:p>
        </p:txBody>
      </p:sp>
      <p:pic>
        <p:nvPicPr>
          <p:cNvPr id="32" name="Picture 31" descr="r04_pers_resume_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862" y="4566195"/>
            <a:ext cx="1231106" cy="769441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3" name="Rounded Rectangle 32"/>
          <p:cNvSpPr/>
          <p:nvPr/>
        </p:nvSpPr>
        <p:spPr>
          <a:xfrm>
            <a:off x="3795712" y="45090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5712" y="4509045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52862" y="5392787"/>
            <a:ext cx="12311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이력서 목록</a:t>
            </a:r>
          </a:p>
        </p:txBody>
      </p:sp>
      <p:pic>
        <p:nvPicPr>
          <p:cNvPr id="36" name="Picture 35" descr="r05_pers_resume_co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218" y="4566195"/>
            <a:ext cx="1231106" cy="769441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7" name="Rounded Rectangle 36"/>
          <p:cNvSpPr/>
          <p:nvPr/>
        </p:nvSpPr>
        <p:spPr>
          <a:xfrm>
            <a:off x="5122068" y="45090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2068" y="4509045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79218" y="5392787"/>
            <a:ext cx="12311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이력서 복사</a:t>
            </a:r>
          </a:p>
        </p:txBody>
      </p:sp>
      <p:pic>
        <p:nvPicPr>
          <p:cNvPr id="40" name="Picture 39" descr="s08_pers_resume_dialo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4566195"/>
            <a:ext cx="1231106" cy="769441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1" name="Rounded Rectangle 40"/>
          <p:cNvSpPr/>
          <p:nvPr/>
        </p:nvSpPr>
        <p:spPr>
          <a:xfrm>
            <a:off x="6448425" y="45090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8425" y="4509045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5575" y="5392787"/>
            <a:ext cx="12311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프로젝트 지원에 쓰임</a:t>
            </a:r>
          </a:p>
        </p:txBody>
      </p:sp>
      <p:pic>
        <p:nvPicPr>
          <p:cNvPr id="44" name="Picture 43" descr="r07_corp_view_resu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1931" y="2598241"/>
            <a:ext cx="1231106" cy="769441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5" name="Rounded Rectangle 44"/>
          <p:cNvSpPr/>
          <p:nvPr/>
        </p:nvSpPr>
        <p:spPr>
          <a:xfrm>
            <a:off x="7774781" y="25410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4781" y="25410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1931" y="3424832"/>
            <a:ext cx="12311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기업이 지원자 이력서 열람</a:t>
            </a:r>
          </a:p>
        </p:txBody>
      </p:sp>
      <p:pic>
        <p:nvPicPr>
          <p:cNvPr id="48" name="Picture 47" descr="r08_corp_affil_applican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8287" y="2598241"/>
            <a:ext cx="1231106" cy="769441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9" name="Rounded Rectangle 48"/>
          <p:cNvSpPr/>
          <p:nvPr/>
        </p:nvSpPr>
        <p:spPr>
          <a:xfrm>
            <a:off x="9101137" y="25410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01137" y="25410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58287" y="3424832"/>
            <a:ext cx="12311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소속 신청자 관리에서 열람</a:t>
            </a:r>
          </a:p>
        </p:txBody>
      </p:sp>
      <p:pic>
        <p:nvPicPr>
          <p:cNvPr id="52" name="Picture 51" descr="r09_pers_read_da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84643" y="4566195"/>
            <a:ext cx="1231106" cy="769441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3" name="Rounded Rectangle 52"/>
          <p:cNvSpPr/>
          <p:nvPr/>
        </p:nvSpPr>
        <p:spPr>
          <a:xfrm>
            <a:off x="10427493" y="45090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27493" y="4509045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84643" y="5392787"/>
            <a:ext cx="12311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열람 확인</a:t>
            </a:r>
          </a:p>
        </p:txBody>
      </p:sp>
      <p:pic>
        <p:nvPicPr>
          <p:cNvPr id="56" name="Picture 55" descr="r10_corp_resume_redirec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0150" y="2598241"/>
            <a:ext cx="1231106" cy="769441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7" name="Rounded Rectangle 56"/>
          <p:cNvSpPr/>
          <p:nvPr/>
        </p:nvSpPr>
        <p:spPr>
          <a:xfrm>
            <a:off x="1143000" y="25410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25410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00150" y="3424832"/>
            <a:ext cx="1231106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기업은 이력서 작성 불가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1000" y="6381750"/>
            <a:ext cx="1143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지원 기록에는 이력서 복사본이 아니라 이력서 번호만 저장된다 → 지원 뒤 이력서를 고치면 기업 화면에도 바로 반영. </a:t>
            </a:r>
            <a:r>
              <a:rPr sz="90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진행 중(801·804·805, 소속 501)이면 삭제를 막는다.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단계 1/10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이력서 메뉴 접근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01_guest_re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/mypage/resume → /login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로그인하지 않고 /mypage/resume 로 가면 로그인 화면으로 보내진다.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로그인하면 원래 화면으로 돌아온다.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이력서 작성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단계 2/10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이력서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02_pers_resume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/mypage/resume/new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가입 정보가 자동으로 채워지고, 이후 수정할 수 있다.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필수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: 제목·이름·생년월일·전화·이메일·주소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: 사진·학력·경력·교육·자격증·프로젝트·기술·첨부·자기소개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대표 이력서로 지정할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학력 [직접 입력]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단계 3/10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학력 [직접 입력]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03_pers_edu_m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학력 검색 모달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학교 검색으로 학력을 넣는다.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검색이 안 되거나 결과가 없으면 학교명을 입력하고 [직접 입력]으로 진행한다.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이력서 목록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단계 4/10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이력서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04_pers_resum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/mypage/resume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대표 이력서는 1건만 유지된다.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수정·복사·삭제를 할 수 있다.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대표 이력서를 지우면 가장 최근 이력서가 대표가 된다.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진행 중인 지원·소속 신청에 쓰인 이력서는 지울 수 없다.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개수 제한은 없고, 임시저장·공개 설정은 없다.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이력서 복사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단계 5/10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이력서 복사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05_pers_resume_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이력서 복사 모달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복사할 때 프로필 이미지와 첨부파일을 같이 복사할지 고른다(파일 포함 / 파일 제외).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③ 프로젝트 지원에 쓰임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단계 6/10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프로젝트 지원에 쓰임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8_pers_resume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공고 상세 → 이력서 선택 모달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공고에 지원할 때 이력서를 고른다. 대표 이력서가 미리 선택되어 있다.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소속 신청에도 이력서 선택이 필수다. </a:t>
            </a: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본인 이력서만 고를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③ 기업이 지원자 이력서 열람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단계 7/10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기업이 지원자 이력서 열람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07_corp_view_re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지원현황 모달 → 지원자 이름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기업 계정의 회사로도 열람 권한을 판별한다. 근거는 ① 이 회사 공고에 지원 ② 이 회사에 소속 신청 ③ 이 회사 소속원.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지원이나 소속 신청을 한 번이라도 받은 회사는 그 사람의 현재 이력서를 기한 없이 열 수 있다.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열람 알림은 따로 없다.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열람 기록이 남지 않도록 기록 요청만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③ 소속 신청자 관리에서 열람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단계 8/10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소속 신청자 관리에서 열람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08_corp_affil_applic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/mypage/affiliation-applicants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소속 신청을 받은 기업은 신청자 이력서를 열람할 수 있다. </a:t>
            </a: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대리지원 때는 소속원의 대표 이력서가 쓰이고, 기업이 </a:t>
            </a: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이력서 보기·변경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을 할 수 있다(3. 파트너).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④ 열람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단계 9/10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열람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09_pers_read_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/mypage/applied-projects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지원 내역의 「열람일자」로 기업이 이력서를 열었는지 확인한다.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기업이 열 때만 기록되고, 본인이 열면 기록되지 않는다.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기업은 이력서 작성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단계 10/10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기업은 이력서 작성 불가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10_corp_resume_re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/mypage/resume → /mypage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계정이 /mypage/resume 로 가면 /mypage 로 보내진다(기업 마이페이지 첫 화면).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인재 검색 기능은 없다.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이력서와 지원 기록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2. 이력서 · 이력서와 지원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지원 기록은 이력서 번호만 저장한다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1143000"/>
            <a:ext cx="5524500" cy="2381250"/>
          </a:xfrm>
          <a:prstGeom prst="roundRect">
            <a:avLst>
              <a:gd name="adj" fmla="val 32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333500"/>
            <a:ext cx="514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지원·소속 신청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33550"/>
            <a:ext cx="51435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이력서 복사본이 아니라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이력서 번호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만 저장한다.</a:t>
            </a:r>
          </a:p>
          <a:p>
            <a:pPr algn="l">
              <a:lnSpc>
                <a:spcPct val="1530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→ 지원한 뒤 이력서를 수정하면 기업 화면에도 바로 반영된다.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500" y="1143000"/>
            <a:ext cx="5524500" cy="2381250"/>
          </a:xfrm>
          <a:prstGeom prst="roundRect">
            <a:avLst>
              <a:gd name="adj" fmla="val 32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5100" y="1333500"/>
            <a:ext cx="514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이력서 삭제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1733550"/>
            <a:ext cx="51435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진행 중(801·804·805, 소속 501)에 쓰인 이력서는 삭제를 막는다.</a:t>
            </a:r>
          </a:p>
          <a:p>
            <a:pPr algn="l">
              <a:lnSpc>
                <a:spcPct val="1530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끝난 지원만 남은 이력서는 삭제되고, 기업이 열면</a:t>
            </a:r>
          </a:p>
          <a:p>
            <a:pPr algn="l">
              <a:lnSpc>
                <a:spcPct val="1530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「이력서를 찾을 수 없습니다.」 토스트가 뜬다.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3810000"/>
            <a:ext cx="11430000" cy="1905000"/>
          </a:xfrm>
          <a:prstGeom prst="roundRect">
            <a:avLst>
              <a:gd name="adj" fmla="val 4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000500"/>
            <a:ext cx="10953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열람 권한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00550"/>
            <a:ext cx="109537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예전에는 공고를 올린 기업 계정이 TBL_COMPANY_MEMBER_R 에 없고 검사 기준도 지원자의 소속 기업이라, 기업이 지원자 이력서를 열 방법이 없었다(운영 열람 0건).</a:t>
            </a:r>
          </a:p>
          <a:p>
            <a:pPr algn="l">
              <a:lnSpc>
                <a:spcPct val="1530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지금은 기업 계정의 회사(TBL_COMPANY_S)로도 판별한다. 근거: ① 이 회사 공고에 지원 ② 이 회사에 소속 신청 ③ 이 회사 소속원.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2. 이력서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소속 신청부터 재직·대리지원·퇴사까지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5715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번호 = 다음 장부터 이어지는 단계별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028700"/>
            <a:ext cx="11430000" cy="1267883"/>
          </a:xfrm>
          <a:prstGeom prst="roundRect">
            <a:avLst>
              <a:gd name="adj" fmla="val 4507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430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2353733"/>
            <a:ext cx="11430000" cy="1956858"/>
          </a:xfrm>
          <a:prstGeom prst="roundRect">
            <a:avLst>
              <a:gd name="adj" fmla="val 292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2468033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4367741"/>
            <a:ext cx="11430000" cy="1956858"/>
          </a:xfrm>
          <a:prstGeom prst="roundRect">
            <a:avLst>
              <a:gd name="adj" fmla="val 292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4482041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3883" y="2844799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60083" y="2768599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인증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0999" y="3602566"/>
            <a:ext cx="1178984" cy="898525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48591" y="3975629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모집 Y 노출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1850" y="485880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278966" y="3621616"/>
            <a:ext cx="1178984" cy="879475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06558" y="3985154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알림+메일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9816" y="2844799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36933" y="3602566"/>
            <a:ext cx="1178983" cy="898525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64525" y="3975629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합격 502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57783" y="485880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57783" y="2844799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94900" y="3602566"/>
            <a:ext cx="1178983" cy="898525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p13_guest_apply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181100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6" name="Rounded Rectangle 25"/>
          <p:cNvSpPr/>
          <p:nvPr/>
        </p:nvSpPr>
        <p:spPr>
          <a:xfrm>
            <a:off x="11430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1915583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목록·상세(모달) 열람</a:t>
            </a:r>
          </a:p>
        </p:txBody>
      </p:sp>
      <p:pic>
        <p:nvPicPr>
          <p:cNvPr id="29" name="Picture 28" descr="p03_corp_edit_un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0" name="Rounded Rectangle 29"/>
          <p:cNvSpPr/>
          <p:nvPr/>
        </p:nvSpPr>
        <p:spPr>
          <a:xfrm>
            <a:off x="1143000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0150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파트너 정보 — 인증 전</a:t>
            </a:r>
          </a:p>
        </p:txBody>
      </p:sp>
      <p:pic>
        <p:nvPicPr>
          <p:cNvPr id="33" name="Picture 32" descr="p02_corp_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133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4" name="Rounded Rectangle 33"/>
          <p:cNvSpPr/>
          <p:nvPr/>
        </p:nvSpPr>
        <p:spPr>
          <a:xfrm>
            <a:off x="2321983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21983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9133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파트너 정보 — 인증 후</a:t>
            </a:r>
          </a:p>
        </p:txBody>
      </p:sp>
      <p:pic>
        <p:nvPicPr>
          <p:cNvPr id="37" name="Picture 36" descr="p04_pers_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116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8" name="Rounded Rectangle 37"/>
          <p:cNvSpPr/>
          <p:nvPr/>
        </p:nvSpPr>
        <p:spPr>
          <a:xfrm>
            <a:off x="3500966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00966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58116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검색·필터</a:t>
            </a:r>
          </a:p>
        </p:txBody>
      </p:sp>
      <p:pic>
        <p:nvPicPr>
          <p:cNvPr id="41" name="Picture 40" descr="p05_pers_apply_mod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7100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2" name="Rounded Rectangle 41"/>
          <p:cNvSpPr/>
          <p:nvPr/>
        </p:nvSpPr>
        <p:spPr>
          <a:xfrm>
            <a:off x="4679950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9950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37100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소속 신청 → 501 대기</a:t>
            </a:r>
          </a:p>
        </p:txBody>
      </p:sp>
      <p:pic>
        <p:nvPicPr>
          <p:cNvPr id="45" name="Picture 44" descr="p06_corp_applica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083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6" name="Rounded Rectangle 45"/>
          <p:cNvSpPr/>
          <p:nvPr/>
        </p:nvSpPr>
        <p:spPr>
          <a:xfrm>
            <a:off x="5858933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8933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6083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신청자 관리</a:t>
            </a:r>
          </a:p>
        </p:txBody>
      </p:sp>
      <p:pic>
        <p:nvPicPr>
          <p:cNvPr id="49" name="Picture 48" descr="p07_corp_applicant_deta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5066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0" name="Rounded Rectangle 49"/>
          <p:cNvSpPr/>
          <p:nvPr/>
        </p:nvSpPr>
        <p:spPr>
          <a:xfrm>
            <a:off x="7037916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37916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95066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신청 내역·이력서 보기</a:t>
            </a:r>
          </a:p>
        </p:txBody>
      </p:sp>
      <p:pic>
        <p:nvPicPr>
          <p:cNvPr id="53" name="Picture 52" descr="p08_pers_affiliated_inf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4050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4" name="Rounded Rectangle 53"/>
          <p:cNvSpPr/>
          <p:nvPr/>
        </p:nvSpPr>
        <p:spPr>
          <a:xfrm>
            <a:off x="8216900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6900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4050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소속 확정 — 내 소속 정보</a:t>
            </a:r>
          </a:p>
        </p:txBody>
      </p:sp>
      <p:pic>
        <p:nvPicPr>
          <p:cNvPr id="57" name="Picture 56" descr="p09_corp_memb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4050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8" name="Rounded Rectangle 57"/>
          <p:cNvSpPr/>
          <p:nvPr/>
        </p:nvSpPr>
        <p:spPr>
          <a:xfrm>
            <a:off x="8216900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16900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4050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소속원 관리</a:t>
            </a:r>
          </a:p>
        </p:txBody>
      </p:sp>
      <p:pic>
        <p:nvPicPr>
          <p:cNvPr id="61" name="Picture 60" descr="p10_corp_proxy_appl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53033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2" name="Rounded Rectangle 61"/>
          <p:cNvSpPr/>
          <p:nvPr/>
        </p:nvSpPr>
        <p:spPr>
          <a:xfrm>
            <a:off x="9395883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95883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53033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소속원 대리지원</a:t>
            </a:r>
          </a:p>
        </p:txBody>
      </p:sp>
      <p:pic>
        <p:nvPicPr>
          <p:cNvPr id="65" name="Picture 64" descr="p11_pers_proxy_histor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32016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6" name="Rounded Rectangle 65"/>
          <p:cNvSpPr/>
          <p:nvPr/>
        </p:nvSpPr>
        <p:spPr>
          <a:xfrm>
            <a:off x="10574866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74866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32016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대리지원 확인</a:t>
            </a:r>
          </a:p>
        </p:txBody>
      </p:sp>
      <p:pic>
        <p:nvPicPr>
          <p:cNvPr id="69" name="Picture 68" descr="p12_pers_withdra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53033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70" name="Rounded Rectangle 69"/>
          <p:cNvSpPr/>
          <p:nvPr/>
        </p:nvSpPr>
        <p:spPr>
          <a:xfrm>
            <a:off x="9395883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95883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53033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⑥ 직접 탈퇴 → 402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1000" y="6381750"/>
            <a:ext cx="1143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운영 현황(v1 기준): 소속 신청 0건, 소속원 0건 — 아직 한 번도 쓰이지 않은 기능. </a:t>
            </a:r>
            <a:r>
              <a:rPr sz="900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기업 계정의 소속 신청은 화면에서만 막고 서버는 막지 않는다.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목록·상세(모달) 열람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3_guest_apply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/affiliation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소속 모집 목록과 상세(모달)는 로그인 없이 볼 수 있다.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스크랩·[소속 신청하기]를 누르면 「로그인 후 이용해주세요.」가 뜬다.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파트너 정보 — 인증 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파트너 정보 — 인증 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3_corp_edit_un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/mypage/affiliation-edit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인증 전(2501)이면 모집·저장이 비활성이다.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인증 모달에서 인증하면 2502 가 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파트너 정보 — 인증 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파트너 정보 — 인증 후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2_corp_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/mypage/affiliation-edit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소개·태그·주소를 입력하고 [모집중]을 체크한 뒤 저장한다.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모집이 Y 인 기업만 소속 모집 목록에 노출된다.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검색·필터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검색·필터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4_per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/affiliation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모집 중인 기업을 검색·필터로 찾는다.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스크랩(602)하면 스크랩 목록에 담기고, 그 기업이 공고를 올리면 알림이 온다.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소속 신청 → 501 대기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소속 신청 → 501 대기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5_pers_apply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상세 모달 → [소속 신청하기]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이력서(필수)와 인사말을 넣어 신청하면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501 대기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가 되고, 기업에 알림+메일이 간다.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본인 이력서만 고를 수 있다.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신청은 수정할 수 없고 대기 중엔 취소할 수 있다. 여러 기업에 동시 신청 가능.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③ 신청자 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신청자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6_corp_applic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/mypage/affiliation-applicants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[합격] →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502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, 개인에게 알림+메일 → 개인은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401 재직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다른 기업에 재직 중이면 400 과 「현재 다른 기업에 재직 중」 안내.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[불합격] →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503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, 개인에게 알림+메일.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③ 신청 내역·이력서 보기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신청 내역·이력서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7_corp_applica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신청자 이름 클릭 → 신청 내역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이름을 누르면 열람 시각이 기록되고 신청 내역이 열린다.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상세에서 신청자 이력서를 볼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열람 기록이 남지 않도록 기록 요청만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④ 소속 확정 — 내 소속 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소속 확정 — 내 소속 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8_pers_affiliated_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/mypage/affiliated-info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합격하면 401 재직이 되고 내 소속 정보 화면에서 소속 기업을 확인한다.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소속은 한 사람당 한 기업만 가능하다(DB 제약).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⑤ 소속원 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소속원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09_corp_me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/mypage/affiliated-members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이력서 제목을 누르면 이력서가 열린다.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[퇴사 처리] →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402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, 개인에게 알림 → 소속 해제.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⑤ 소속원 대리지원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소속원 대리지원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0_corp_proxy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/projects/company/{공고번호} → [지원하기]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다른 기업 공고에 소속원을 대신 지원시킨다. 소속원의 대표 이력서가 쓰인다.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[이력서 변경]으로 다른 이력서를 고를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대리지원 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대리지원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1_pers_proxy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/mypage/applied-projects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개인 지원 내역에 「기업 지원 · 회사명」으로 표시된다.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⑥ 직접 탈퇴 → 402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단계 12/12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⑥ 직접 탈퇴 → 402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2_pers_withd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/mypage/affiliated-info → [소속 탈퇴]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개인이 직접 탈퇴하면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402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, 기업에 「소속원 탈퇴」 알림+메일.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회원 탈퇴 때도 402 가 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상태 전이도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3. 파트너(소속) · 상태 전이도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소속 신청 상태와 재직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4390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기업이 바꿈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9165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4405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개인이 바꿈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9180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667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028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소속 신청 → 재직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190500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19812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소속 신청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22288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이력서+인사말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2250" y="1905000"/>
            <a:ext cx="152400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2250" y="1981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2250" y="22288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8750" y="1905000"/>
            <a:ext cx="152400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8750" y="19812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합격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50" y="22288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15250" y="1905000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E1EFED"/>
          </a:solidFill>
          <a:ln w="14287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5250" y="198120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재직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0" y="22288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8750" y="3238500"/>
            <a:ext cx="1524000" cy="552450"/>
          </a:xfrm>
          <a:prstGeom prst="roundRect">
            <a:avLst>
              <a:gd name="adj" fmla="val 13793"/>
            </a:avLst>
          </a:prstGeom>
          <a:solidFill>
            <a:srgbClr val="ECEEED"/>
          </a:solidFill>
          <a:ln w="14287">
            <a:solidFill>
              <a:srgbClr val="7C8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8750" y="33147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불합격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8750" y="35623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15250" y="4572000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ECEEED"/>
          </a:solidFill>
          <a:ln w="14287">
            <a:solidFill>
              <a:srgbClr val="7C8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15250" y="464820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퇴사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5250" y="48958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402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809750" y="2200275"/>
            <a:ext cx="93345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66900" y="19621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신청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86250" y="2200275"/>
            <a:ext cx="93345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43400" y="19621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합격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62750" y="2200275"/>
            <a:ext cx="93345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19900" y="1962150"/>
            <a:ext cx="857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자동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95750" y="2495550"/>
            <a:ext cx="1123950" cy="100965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114800" y="3190875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불합격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알림+메일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2250" y="2571750"/>
            <a:ext cx="12858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대기 중엔 개인이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취소 가능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(신청 수정은 불가)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524875" y="2495550"/>
            <a:ext cx="0" cy="205740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667750" y="2857500"/>
            <a:ext cx="3143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97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 「퇴사 처리」</a:t>
            </a: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 → 개인에게 알림</a:t>
            </a:r>
          </a:p>
          <a:p>
            <a:pPr algn="l">
              <a:lnSpc>
                <a:spcPct val="1530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 직접 탈퇴</a:t>
            </a: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 → 기업에 알림+메일</a:t>
            </a:r>
          </a:p>
          <a:p>
            <a:pPr algn="l">
              <a:lnSpc>
                <a:spcPct val="1530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 회원 탈퇴</a:t>
            </a:r>
          </a:p>
          <a:p>
            <a:pPr algn="l">
              <a:lnSpc>
                <a:spcPct val="153000"/>
              </a:lnSpc>
            </a:pPr>
            <a:r>
              <a:rPr sz="97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 회원 탈퇴</a:t>
            </a: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 → 소속원 전원 402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0" y="257175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다른 기업 재직 중이면 400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「현재 다른 기업에 재직 중」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1000" y="5524500"/>
            <a:ext cx="11430000" cy="857250"/>
          </a:xfrm>
          <a:prstGeom prst="roundRect">
            <a:avLst>
              <a:gd name="adj" fmla="val 8888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" y="5638800"/>
            <a:ext cx="11049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97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퇴사(어느 경로든)하면 그 기업이 낸 진행 중 대리지원은 자동 지원취소(806)된다.</a:t>
            </a:r>
          </a:p>
          <a:p>
            <a:pPr algn="l">
              <a:lnSpc>
                <a:spcPct val="153000"/>
              </a:lnSpc>
            </a:pPr>
            <a:r>
              <a:rPr sz="97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기업 회원이 탈퇴하면 소속원 전원 퇴사(402)·대기 신청 불합격(503)·모집 중지 + 알림.</a:t>
            </a: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  소속은 한 사람당 한 기업만(DB 제약).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3. 파트너(소속)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가입·로그인·계정 찾기부터 정보 수정·탈퇴까지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5715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번호 = 다음 장부터 이어지는 단계별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028700"/>
            <a:ext cx="11430000" cy="1423987"/>
          </a:xfrm>
          <a:prstGeom prst="roundRect">
            <a:avLst>
              <a:gd name="adj" fmla="val 4013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430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2509837"/>
            <a:ext cx="11430000" cy="1878806"/>
          </a:xfrm>
          <a:prstGeom prst="roundRect">
            <a:avLst>
              <a:gd name="adj" fmla="val 3041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2624137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4445793"/>
            <a:ext cx="11430000" cy="1878806"/>
          </a:xfrm>
          <a:prstGeom prst="roundRect">
            <a:avLst>
              <a:gd name="adj" fmla="val 3041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4560093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2400" y="159781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77400" y="159781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19900" y="5014912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96100" y="4938712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탈퇴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9900" y="3078956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48650" y="3078956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01_guest_header_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11430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입구 — 헤더 메뉴</a:t>
            </a:r>
          </a:p>
        </p:txBody>
      </p:sp>
      <p:pic>
        <p:nvPicPr>
          <p:cNvPr id="22" name="Picture 21" descr="a02_guest_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3" name="Rounded Rectangle 22"/>
          <p:cNvSpPr/>
          <p:nvPr/>
        </p:nvSpPr>
        <p:spPr>
          <a:xfrm>
            <a:off x="25717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7175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890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개인 회원가입</a:t>
            </a:r>
          </a:p>
        </p:txBody>
      </p:sp>
      <p:pic>
        <p:nvPicPr>
          <p:cNvPr id="26" name="Picture 25" descr="a03_guest_signup_ver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40005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05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76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이메일 인증</a:t>
            </a:r>
          </a:p>
        </p:txBody>
      </p:sp>
      <p:pic>
        <p:nvPicPr>
          <p:cNvPr id="30" name="Picture 29" descr="a04_guest_signup_comp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1" name="Rounded Rectangle 30"/>
          <p:cNvSpPr/>
          <p:nvPr/>
        </p:nvSpPr>
        <p:spPr>
          <a:xfrm>
            <a:off x="54292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2925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기업 회원가입</a:t>
            </a:r>
          </a:p>
        </p:txBody>
      </p:sp>
      <p:pic>
        <p:nvPicPr>
          <p:cNvPr id="34" name="Picture 33" descr="a05_guest_login_compan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1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5" name="Rounded Rectangle 34"/>
          <p:cNvSpPr/>
          <p:nvPr/>
        </p:nvSpPr>
        <p:spPr>
          <a:xfrm>
            <a:off x="68580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51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로그인</a:t>
            </a:r>
          </a:p>
        </p:txBody>
      </p:sp>
      <p:pic>
        <p:nvPicPr>
          <p:cNvPr id="38" name="Picture 37" descr="a06_guest_find_accou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9" name="Rounded Rectangle 38"/>
          <p:cNvSpPr/>
          <p:nvPr/>
        </p:nvSpPr>
        <p:spPr>
          <a:xfrm>
            <a:off x="82867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675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390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계정 찾기</a:t>
            </a:r>
          </a:p>
        </p:txBody>
      </p:sp>
      <p:pic>
        <p:nvPicPr>
          <p:cNvPr id="42" name="Picture 41" descr="a07_guest_reset_passwo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26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3" name="Rounded Rectangle 42"/>
          <p:cNvSpPr/>
          <p:nvPr/>
        </p:nvSpPr>
        <p:spPr>
          <a:xfrm>
            <a:off x="97155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155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726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비밀번호 재설정</a:t>
            </a:r>
          </a:p>
        </p:txBody>
      </p:sp>
      <p:pic>
        <p:nvPicPr>
          <p:cNvPr id="46" name="Picture 45" descr="a09_pers_info_ed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7" name="Rounded Rectangle 46"/>
          <p:cNvSpPr/>
          <p:nvPr/>
        </p:nvSpPr>
        <p:spPr>
          <a:xfrm>
            <a:off x="542925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2925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개인 정보 수정</a:t>
            </a:r>
          </a:p>
        </p:txBody>
      </p:sp>
      <p:pic>
        <p:nvPicPr>
          <p:cNvPr id="50" name="Picture 49" descr="a10_corp_info_edi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2662237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1" name="Rounded Rectangle 50"/>
          <p:cNvSpPr/>
          <p:nvPr/>
        </p:nvSpPr>
        <p:spPr>
          <a:xfrm>
            <a:off x="5429250" y="2605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29250" y="2605087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3552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기업 정보 수정</a:t>
            </a:r>
          </a:p>
        </p:txBody>
      </p:sp>
      <p:pic>
        <p:nvPicPr>
          <p:cNvPr id="54" name="Picture 53" descr="a11_corp_verify_mod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5150" y="2662237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5" name="Rounded Rectangle 54"/>
          <p:cNvSpPr/>
          <p:nvPr/>
        </p:nvSpPr>
        <p:spPr>
          <a:xfrm>
            <a:off x="6858000" y="2605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2605087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15150" y="3552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기업 인증</a:t>
            </a:r>
          </a:p>
        </p:txBody>
      </p:sp>
      <p:pic>
        <p:nvPicPr>
          <p:cNvPr id="58" name="Picture 57" descr="a12_pers_withdra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515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9" name="Rounded Rectangle 58"/>
          <p:cNvSpPr/>
          <p:nvPr/>
        </p:nvSpPr>
        <p:spPr>
          <a:xfrm>
            <a:off x="685800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1515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⑥ 개인 탈퇴</a:t>
            </a:r>
          </a:p>
        </p:txBody>
      </p:sp>
      <p:pic>
        <p:nvPicPr>
          <p:cNvPr id="62" name="Picture 61" descr="a13_corp_withdra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3900" y="2662237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3" name="Rounded Rectangle 62"/>
          <p:cNvSpPr/>
          <p:nvPr/>
        </p:nvSpPr>
        <p:spPr>
          <a:xfrm>
            <a:off x="8286750" y="2605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86750" y="2605087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3900" y="3552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⑥ 기업 탈퇴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1000" y="6381750"/>
            <a:ext cx="1143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운영 현황(v1 기준): 개인 101명·기업 2명·관리자 1명. 개인정보 동의는 기존 회원 103명 모두 'N' — </a:t>
            </a:r>
            <a:r>
              <a:rPr sz="90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지금은 가입 때 'Y' 로 저장(기존 값은 그대로).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입구 — 헤더 메뉴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01_guest_header_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헤더 [기업서비스 ▾]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헤더 [로그인]·[회원가입]은 개인용이다.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[기업서비스 ▾]에서 기업 로그인(/login?loginType=COMPANY)과 기업 회원가입(/sign-up?loginType=COMPANY)으로 간다.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기업 회원가입 설명은 「기업 담당자 계정을 만듭니다」.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개인 회원가입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개인 회원가입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02_guest_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/sign-up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아이디 중복확인·이메일 인증(3분).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이름·생년월일·성별·휴대폰·주소를 입력하고 개인정보에 동의한다. </a:t>
            </a: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동의 값을 저장한다.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가입이 끝나면 개인 로그인으로 이동한다. </a:t>
            </a: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✅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서버가 거절한 사유는 그 칸에 표시된다.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이메일 인증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이메일 인증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03_guest_signup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/sign-up → [인증 요청]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인증번호 아래에 남은 시간이 표시된다.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인증한 지 5분이 지나면 다시 인증해야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인증 메일 발송 요청만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기업 회원가입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기업 회원가입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04_guest_signup_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/sign-up?loginType=COMPANY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기업명·담당자·회사 주소를 입력한다. 사업자번호는 받지 않는다(의도된 설계).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가입하면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2501 미인증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으로 시작한다.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가입이 끝나면 기업 로그인으로 이동한다.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로그인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로그인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05_guest_login_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/login?loginType=COMPANY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개인·기업 로그인 화면이 나뉜다. 소셜 로그인은 「준비 중」.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access 30분·refresh 14일, 만료되면 자동 재발급.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재발급에 실패하면 「세션 만료」 안내 후 회원 구분대로 로그인 화면 → 로그인하면 원래 화면.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③ 계정 찾기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계정 찾기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06_guest_find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/find-account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개인·기업 공용 화면, 메일 인증번호 방식. </a:t>
            </a: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남은 시간 표시.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아이디 찾기 결과에 회원 구분이 표시된다. </a:t>
            </a: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서버도 메일 인증을 확인한다.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③ 비밀번호 재설정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비밀번호 재설정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07_guest_reset_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/reset-password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인증 뒤 5분 안에 재설정한다. 지나면 버튼이 비활성되고 다시 찾기 링크가 뜬다.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끝나면 회원 구분대로 로그인 화면으로 간다.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④ 개인 정보 수정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개인 정보 수정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09_pers_info_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/mypage/information-edit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들어갈 때 비밀번호를 다시 확인한다.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닉네임·이메일·휴대폰·주소 등을 항목별로 수정한다.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④ 기업 정보 수정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기업 정보 수정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10_corp_info_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/mypage/information-edit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비밀번호 재확인 후 수정한다.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이름 항목은 「담당자 이름」으로 표시한다.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⑤ 기업 인증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기업 인증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11_corp_verify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소속 정보 수정 → [지금 바로 기업 인증하기]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기업명·대표자명·개업일자·사업자번호를 넣으면 국세청 진위확인을 거쳐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2502 인증 완료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가 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⑥ 개인 탈퇴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⑥ 개인 탈퇴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12_pers_withd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/mypage/withdraw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비밀번호 재확인 후 안내문에 동의하고 탈퇴한다.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소속 중이면 자동으로 </a:t>
            </a: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402 퇴사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탈퇴하면 인증 쿠키도 지운다.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안내문 「모든 정보는 삭제되며 복구 불가」는 실제(탈퇴 표시만, 개인정보·이력서는 남음)와 다르다(기록만).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⑥ 기업 탈퇴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단계 12/12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⑥ 기업 탈퇴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13_corp_withd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/mypage/withdraw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탈퇴하면 지원 취소·공고 삭제·소속원 퇴사(402)·대기 신청 불합격(503)·모집 중지 + 알림.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인증 쿠키도 지운다.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52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52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계정 규칙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4. 회원/계정 · 계정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로그인 유지·기업 인증·탈퇴·재가입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1143000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314450"/>
            <a:ext cx="504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로그인 유지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14500"/>
            <a:ext cx="504825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access 30분 · refresh 14일, 만료되면 자동 재발급</a:t>
            </a:r>
          </a:p>
          <a:p>
            <a:pPr algn="l">
              <a:lnSpc>
                <a:spcPct val="157500"/>
              </a:lnSpc>
            </a:pPr>
            <a:r>
              <a:rPr sz="105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재발급 실패 → 「세션 만료」 안내 → 회원 구분대로 로그인 화면 → 로그인 후 원래 화면</a:t>
            </a:r>
          </a:p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소셜 로그인은 「준비 중」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500" y="1143000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5100" y="1314450"/>
            <a:ext cx="504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 인증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1714500"/>
            <a:ext cx="504825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가입하면 </a:t>
            </a:r>
            <a:r>
              <a:rPr sz="10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2501 미인증</a:t>
            </a: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 → 국세청 진위확인 → </a:t>
            </a:r>
            <a:r>
              <a:rPr sz="10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2502 인증 완료</a:t>
            </a:r>
          </a:p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미인증이면 공고 등록·소속 모집이 막히고 인증 안내가 뜬다</a:t>
            </a:r>
          </a:p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사업자번호는 가입 때 받지 않는다(의도)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3619500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790950"/>
            <a:ext cx="504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탈퇴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91000"/>
            <a:ext cx="504825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개인: 소속 중이면 자동 402</a:t>
            </a:r>
          </a:p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기업: </a:t>
            </a:r>
            <a:r>
              <a:rPr sz="105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지원 취소·공고 삭제·소속원 퇴사·대기 신청 503·모집 중지 + 알림</a:t>
            </a:r>
          </a:p>
          <a:p>
            <a:pPr algn="l">
              <a:lnSpc>
                <a:spcPct val="157500"/>
              </a:lnSpc>
            </a:pPr>
            <a:r>
              <a:rPr sz="105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탈퇴하면 인증 쿠키도 지움</a:t>
            </a:r>
          </a:p>
          <a:p>
            <a:pPr algn="l">
              <a:lnSpc>
                <a:spcPct val="157500"/>
              </a:lnSpc>
            </a:pPr>
            <a:r>
              <a:rPr sz="1050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안내문(모두 삭제·복구 불가)과 실제(탈퇴 표시만)가 다름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500" y="3619500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0" y="3790950"/>
            <a:ext cx="504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재가입·알림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4191000"/>
            <a:ext cx="504825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같은 아이디·닉네임은 다시 쓸 수 없다</a:t>
            </a:r>
          </a:p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같은 이메일·휴대폰은 다시 쓸 수 있다</a:t>
            </a:r>
          </a:p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계정 관련 알림은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4. 회원/계정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계산기 입력부터 분석·리포트·추천·순위표까지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5715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번호 = 다음 장부터 이어지는 단계별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028700"/>
            <a:ext cx="11430000" cy="1423987"/>
          </a:xfrm>
          <a:prstGeom prst="roundRect">
            <a:avLst>
              <a:gd name="adj" fmla="val 4013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430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2509837"/>
            <a:ext cx="11430000" cy="1878806"/>
          </a:xfrm>
          <a:prstGeom prst="roundRect">
            <a:avLst>
              <a:gd name="adj" fmla="val 3041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2624137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4445793"/>
            <a:ext cx="11430000" cy="1878806"/>
          </a:xfrm>
          <a:prstGeom prst="roundRect">
            <a:avLst>
              <a:gd name="adj" fmla="val 3041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4560093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33650" y="159781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95650" y="2433637"/>
            <a:ext cx="1428750" cy="2145506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48125" y="3430190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로그인→복귀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62400" y="5014912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38600" y="4938712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새로 계산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1150" y="5014912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67350" y="4938712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자동 제출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19900" y="5014912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53150" y="2433637"/>
            <a:ext cx="0" cy="2145506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91250" y="3430190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로그인 후</a:t>
            </a:r>
          </a:p>
        </p:txBody>
      </p:sp>
      <p:pic>
        <p:nvPicPr>
          <p:cNvPr id="22" name="Picture 21" descr="t01_guest_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3" name="Rounded Rectangle 22"/>
          <p:cNvSpPr/>
          <p:nvPr/>
        </p:nvSpPr>
        <p:spPr>
          <a:xfrm>
            <a:off x="11430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01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연봉 계산기</a:t>
            </a:r>
          </a:p>
        </p:txBody>
      </p:sp>
      <p:pic>
        <p:nvPicPr>
          <p:cNvPr id="26" name="Picture 25" descr="t02_guest_login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25717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7175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890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비로그인 확인 모달</a:t>
            </a:r>
          </a:p>
        </p:txBody>
      </p:sp>
      <p:pic>
        <p:nvPicPr>
          <p:cNvPr id="30" name="Picture 29" descr="t03_pers_history_mo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1" name="Rounded Rectangle 30"/>
          <p:cNvSpPr/>
          <p:nvPr/>
        </p:nvSpPr>
        <p:spPr>
          <a:xfrm>
            <a:off x="257175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7175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890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제출 이력 모달</a:t>
            </a:r>
          </a:p>
        </p:txBody>
      </p:sp>
      <p:pic>
        <p:nvPicPr>
          <p:cNvPr id="34" name="Picture 33" descr="t04_pers_analyz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5" name="Rounded Rectangle 34"/>
          <p:cNvSpPr/>
          <p:nvPr/>
        </p:nvSpPr>
        <p:spPr>
          <a:xfrm>
            <a:off x="400050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0050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765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분석 중 → 제출</a:t>
            </a:r>
          </a:p>
        </p:txBody>
      </p:sp>
      <p:pic>
        <p:nvPicPr>
          <p:cNvPr id="38" name="Picture 37" descr="t05_pers_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9" name="Rounded Rectangle 38"/>
          <p:cNvSpPr/>
          <p:nvPr/>
        </p:nvSpPr>
        <p:spPr>
          <a:xfrm>
            <a:off x="542925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2925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리포트</a:t>
            </a:r>
          </a:p>
        </p:txBody>
      </p:sp>
      <p:pic>
        <p:nvPicPr>
          <p:cNvPr id="42" name="Picture 41" descr="t06_pers_recomm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515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3" name="Rounded Rectangle 42"/>
          <p:cNvSpPr/>
          <p:nvPr/>
        </p:nvSpPr>
        <p:spPr>
          <a:xfrm>
            <a:off x="685800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515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추천 공고</a:t>
            </a:r>
          </a:p>
        </p:txBody>
      </p:sp>
      <p:pic>
        <p:nvPicPr>
          <p:cNvPr id="46" name="Picture 45" descr="t07_guest_rank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26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7" name="Rounded Rectangle 46"/>
          <p:cNvSpPr/>
          <p:nvPr/>
        </p:nvSpPr>
        <p:spPr>
          <a:xfrm>
            <a:off x="97155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155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26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순위표</a:t>
            </a:r>
          </a:p>
        </p:txBody>
      </p:sp>
      <p:pic>
        <p:nvPicPr>
          <p:cNvPr id="50" name="Picture 49" descr="t08_guest_report_redirec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1" name="Rounded Rectangle 50"/>
          <p:cNvSpPr/>
          <p:nvPr/>
        </p:nvSpPr>
        <p:spPr>
          <a:xfrm>
            <a:off x="54292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2925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리포트 직접 진입</a:t>
            </a:r>
          </a:p>
        </p:txBody>
      </p:sp>
      <p:pic>
        <p:nvPicPr>
          <p:cNvPr id="54" name="Picture 53" descr="t09_corp_repo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3900" y="2662237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5" name="Rounded Rectangle 54"/>
          <p:cNvSpPr/>
          <p:nvPr/>
        </p:nvSpPr>
        <p:spPr>
          <a:xfrm>
            <a:off x="8286750" y="2605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86750" y="2605087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43900" y="3552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회원도 같은 흐름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1000" y="6381750"/>
            <a:ext cx="1143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운영 현황(v1 기준): 실제 제출 1건(개인), 시드 4,000건. 연봉 관련 알림은 없다.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단계 1/9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연봉 계산기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01_guest_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/salary/calculator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헤더 [연봉계산기]·[연봉순위표]·메인 배너로 들어온다. 누구나 입력할 수 있다.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필수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: 고용형태·직무·연차·지역·기술·연봉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: 14종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금액 칸은 10억(100,000만원) 상한.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비로그인 확인 모달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단계 2/9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비로그인 확인 모달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02_guest_login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/salary/calculator → [연봉 확인하기]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[분석]을 누르면 입력값을 이 탭의 sessionStorage 에 저장한다.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비로그인이면 확인 모달 [아니오]/[기업 회원 로그인]/[개인 회원 로그인].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로그인하면 분석 화면으로 돌아와 자동 제출된다.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제출 이력 모달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단계 3/9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제출 이력 모달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03_pers_history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/salary/calculator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로그인 + 제출 이력이 있으면 [이전 리포트 보기]/[새로 계산하기]를 묻는다.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[새로 계산하기]는 이전 제출값으로 폼을 채운다.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분석 중 → 제출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단계 4/9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분석 중 → 제출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04_pers_analy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/salary/analyzing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로그인 상태면 제출(1인 1건, 다시 내면 갱신) + 3.2초 연출.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주소로 바로 들어오면 개인 로그인 화면 — 헤더 [기업 로그인]으로 바꿔도 복귀는 유지된다.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실패하면 입력값을 채운 채 계산기로.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제출 요청(POST /salary/submissions)만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③ 리포트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단계 5/9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리포트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05_pers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/salary/report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서버에 저장된 내 제출 기준.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내 위치·분포·5년 추정·기술별 상승률·이직 동향.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실표본이 30명 미만이면 시드를 섞고, 그래도 부족하면 지역 → 연차 순으로 조건을 완화한다.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「같은 조건 개발자가 다니는 회사」는 화면에서 주석 처리되어 보이지 않음(요구사항정의서는 ✅).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④ 추천 공고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단계 6/9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추천 공고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06_pers_recomm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/salary/recommend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서버의 내 제출 기준 — 새 탭·재방문도 열린다.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기술 기반 공고 3건 + 연봉 근접 공고 3건 → 공고 상세(1. 프로젝트 공고).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정규직·계약직은 연봉÷12 로 월 환산해 공고 월 단가와 비교.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단가 공개 공고를 근접순으로 먼저, 빈자리는 단가 협의 공고 + 안내.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⑤ 순위표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단계 7/9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순위표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07_gues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/salary/ranking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비로그인도 볼 수 있다. 전체·직무·연차·지역 기준 상위 20위.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「정규직·계약직」 기준으로 표기.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시드는 부족할 때만이 아니라 항상 섞인다.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탈퇴 회원 제출은 순위표에서 빠진다(리포트 통계에는 남김).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리포트 직접 진입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단계 8/9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리포트 직접 진입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08_guest_report_re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/salary/report → /login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비로그인이 리포트로 바로 들어오면 로그인 화면 → 로그인 후 리포트로 돌아온다.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기업 회원도 같은 흐름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단계 9/9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회원도 같은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09_corp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/salary/report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회원을 막는 곳은 없다 — 계산기·제출·리포트·추천을 개인과 똑같이 쓴다.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비로그인 확인 모달에서 [기업 회원 로그인]을 고를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리포트·순위표 데이터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5. 연봉 · 리포트·순위표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제출 1건이 리포트·추천·순위표에 쓰이는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1143000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314450"/>
            <a:ext cx="504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14500"/>
            <a:ext cx="504825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1인 1건 — 다시 내면 갱신</a:t>
            </a:r>
          </a:p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입력값은 먼저 이 탭의 sessionStorage 에 두고, 분석 화면에서 로그인을 확인한 뒤 제출</a:t>
            </a:r>
          </a:p>
          <a:p>
            <a:pPr algn="l">
              <a:lnSpc>
                <a:spcPct val="157500"/>
              </a:lnSpc>
            </a:pPr>
            <a:r>
              <a:rPr sz="105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실패하면 입력값을 채운 채 계산기로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500" y="1143000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5100" y="1314450"/>
            <a:ext cx="504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리포트·추천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1714500"/>
            <a:ext cx="504825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서버에 저장된 내 제출 기준</a:t>
            </a:r>
          </a:p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실표본 30명 미만 → 시드 섞음 → 그래도 부족하면 지역 → 연차 순으로 조건 완화</a:t>
            </a:r>
          </a:p>
          <a:p>
            <a:pPr algn="l">
              <a:lnSpc>
                <a:spcPct val="157500"/>
              </a:lnSpc>
            </a:pPr>
            <a:r>
              <a:rPr sz="105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추천은 연봉÷12 로 월 환산해 공고 월 단가와 비교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3619500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3790950"/>
            <a:ext cx="504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순위표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91000"/>
            <a:ext cx="504825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전체·직무·연차·지역 기준 상위 20위, 비로그인도 열람</a:t>
            </a:r>
          </a:p>
          <a:p>
            <a:pPr algn="l">
              <a:lnSpc>
                <a:spcPct val="157500"/>
              </a:lnSpc>
            </a:pPr>
            <a:r>
              <a:rPr sz="1050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시드는 항상 섞인다</a:t>
            </a:r>
          </a:p>
          <a:p>
            <a:pPr algn="l">
              <a:lnSpc>
                <a:spcPct val="157500"/>
              </a:lnSpc>
            </a:pPr>
            <a:r>
              <a:rPr sz="105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탈퇴 회원 제출은 순위표에서 빠짐(리포트 통계에는 남김)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500" y="3619500"/>
            <a:ext cx="5524500" cy="2286000"/>
          </a:xfrm>
          <a:prstGeom prst="roundRect">
            <a:avLst>
              <a:gd name="adj" fmla="val 3333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0" y="3790950"/>
            <a:ext cx="5048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35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화면에 없는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4191000"/>
            <a:ext cx="5048250" cy="166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7500"/>
              </a:lnSpc>
            </a:pPr>
            <a:r>
              <a:rPr sz="1050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「같은 조건 개발자가 다니는 회사」는 주석 처리되어 안 보임(요구사항정의서는 ✅)</a:t>
            </a:r>
          </a:p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회원을 막는 곳은 없음</a:t>
            </a:r>
          </a:p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알림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5. 연봉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허브·목록 열람부터 글쓰기·반응·답변 채택까지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5715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번호 = 다음 장부터 이어지는 단계별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028700"/>
            <a:ext cx="11430000" cy="1423987"/>
          </a:xfrm>
          <a:prstGeom prst="roundRect">
            <a:avLst>
              <a:gd name="adj" fmla="val 4013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430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2509837"/>
            <a:ext cx="11430000" cy="1878806"/>
          </a:xfrm>
          <a:prstGeom prst="roundRect">
            <a:avLst>
              <a:gd name="adj" fmla="val 3041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2624137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4445793"/>
            <a:ext cx="11430000" cy="1878806"/>
          </a:xfrm>
          <a:prstGeom prst="roundRect">
            <a:avLst>
              <a:gd name="adj" fmla="val 3041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4560093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33650" y="159781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62400" y="159781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91150" y="159781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295650" y="2433637"/>
            <a:ext cx="4286250" cy="2145506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76875" y="3430190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로그인 후 복귀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33650" y="5014912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962400" y="5014912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1150" y="5014912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67350" y="4938712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알림+메일</a:t>
            </a:r>
          </a:p>
        </p:txBody>
      </p:sp>
      <p:pic>
        <p:nvPicPr>
          <p:cNvPr id="21" name="Picture 20" descr="m01_guest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11430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01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허브</a:t>
            </a:r>
          </a:p>
        </p:txBody>
      </p:sp>
      <p:pic>
        <p:nvPicPr>
          <p:cNvPr id="25" name="Picture 24" descr="m10_guest_all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6" name="Rounded Rectangle 25"/>
          <p:cNvSpPr/>
          <p:nvPr/>
        </p:nvSpPr>
        <p:spPr>
          <a:xfrm>
            <a:off x="25717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7175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890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전체 모아보기</a:t>
            </a:r>
          </a:p>
        </p:txBody>
      </p:sp>
      <p:pic>
        <p:nvPicPr>
          <p:cNvPr id="29" name="Picture 28" descr="m02_guest_tech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0" name="Rounded Rectangle 29"/>
          <p:cNvSpPr/>
          <p:nvPr/>
        </p:nvSpPr>
        <p:spPr>
          <a:xfrm>
            <a:off x="40005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05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76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게시판 목록</a:t>
            </a:r>
          </a:p>
        </p:txBody>
      </p:sp>
      <p:pic>
        <p:nvPicPr>
          <p:cNvPr id="33" name="Picture 32" descr="m03_guest_recommend_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4" name="Rounded Rectangle 33"/>
          <p:cNvSpPr/>
          <p:nvPr/>
        </p:nvSpPr>
        <p:spPr>
          <a:xfrm>
            <a:off x="54292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2925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비로그인 반응</a:t>
            </a:r>
          </a:p>
        </p:txBody>
      </p:sp>
      <p:pic>
        <p:nvPicPr>
          <p:cNvPr id="37" name="Picture 36" descr="m04_guest_register_redir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1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8" name="Rounded Rectangle 37"/>
          <p:cNvSpPr/>
          <p:nvPr/>
        </p:nvSpPr>
        <p:spPr>
          <a:xfrm>
            <a:off x="68580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51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글쓰기 직접 접근</a:t>
            </a:r>
          </a:p>
        </p:txBody>
      </p:sp>
      <p:pic>
        <p:nvPicPr>
          <p:cNvPr id="41" name="Picture 40" descr="m05_pers_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15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2" name="Rounded Rectangle 41"/>
          <p:cNvSpPr/>
          <p:nvPr/>
        </p:nvSpPr>
        <p:spPr>
          <a:xfrm>
            <a:off x="114300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015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허브 — 로그인</a:t>
            </a:r>
          </a:p>
        </p:txBody>
      </p:sp>
      <p:pic>
        <p:nvPicPr>
          <p:cNvPr id="45" name="Picture 44" descr="m06_pers_tech_regis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6" name="Rounded Rectangle 45"/>
          <p:cNvSpPr/>
          <p:nvPr/>
        </p:nvSpPr>
        <p:spPr>
          <a:xfrm>
            <a:off x="257175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7175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2890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글쓰기</a:t>
            </a:r>
          </a:p>
        </p:txBody>
      </p:sp>
      <p:pic>
        <p:nvPicPr>
          <p:cNvPr id="49" name="Picture 48" descr="m07_pers_answ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765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0" name="Rounded Rectangle 49"/>
          <p:cNvSpPr/>
          <p:nvPr/>
        </p:nvSpPr>
        <p:spPr>
          <a:xfrm>
            <a:off x="400050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050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5765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반응 · ⑤ 답변</a:t>
            </a:r>
          </a:p>
        </p:txBody>
      </p:sp>
      <p:pic>
        <p:nvPicPr>
          <p:cNvPr id="53" name="Picture 52" descr="m08_pers_owner_adop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4" name="Rounded Rectangle 53"/>
          <p:cNvSpPr/>
          <p:nvPr/>
        </p:nvSpPr>
        <p:spPr>
          <a:xfrm>
            <a:off x="542925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2925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채택·마감</a:t>
            </a:r>
          </a:p>
        </p:txBody>
      </p:sp>
      <p:pic>
        <p:nvPicPr>
          <p:cNvPr id="57" name="Picture 56" descr="m09_corp_report_mod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5150" y="2662237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8" name="Rounded Rectangle 57"/>
          <p:cNvSpPr/>
          <p:nvPr/>
        </p:nvSpPr>
        <p:spPr>
          <a:xfrm>
            <a:off x="6858000" y="2605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2605087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15150" y="3552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신고 — 기업도 같음</a:t>
            </a:r>
          </a:p>
        </p:txBody>
      </p:sp>
      <p:pic>
        <p:nvPicPr>
          <p:cNvPr id="61" name="Picture 60" descr="m11_pers_legacy_regist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2" name="Rounded Rectangle 61"/>
          <p:cNvSpPr/>
          <p:nvPr/>
        </p:nvSpPr>
        <p:spPr>
          <a:xfrm>
            <a:off x="828675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8675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4390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레거시 게시판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1000" y="6381750"/>
            <a:ext cx="1143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운영 현황(v1 기준): 커리어 105, 기술 255, 라운지 105. 요즘회사·팀업 0건. </a:t>
            </a:r>
            <a:r>
              <a:rPr sz="90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access 토큰이 만료돼도 자동 재발급 후 다시 조회 — 로그인 상태 그대로 보인다.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1/11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허브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1_guest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/community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헤더 메가메뉴(커리어·기술·요즘회사·프로젝트·라운지·투표)·헤더 검색으로 들어온다.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공지 롤링배너 · 월간 베스트 5 · 새 글 10 · 기술태그(→ /tech?tag=) · 주간 추천.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❌ 비로그인 [로그인] 버튼은 원래 화면으로 돌아오지 않는다(안 고침).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전체 모아보기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2/11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전체 모아보기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10_guest_all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/community/list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헤더 검색 결과도 이 화면으로 온다.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목록·상세는 누구나 볼 수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게시판 목록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3/11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게시판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2_guest_tech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커리어·기술·요즘회사·팀업·라운지.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커리어·기술은 질문 게시판 — 진행중·채택완료·자체해결·미해결 상태로 거른다.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커뮤니티에는 스크랩이 없다.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비로그인 반응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4/11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비로그인 반응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3_guest_recommend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/tech/{글번호} → [추천]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댓글·추천을 누르면 「로그인 후 이용해주세요.」 알림만 뜬다.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❌ 로그인 화면으로 보내지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조회수 요청(PATCH increment-view)만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② 글쓰기 직접 접근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5/11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② 글쓰기 직접 접근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4_guest_register_re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/lounge/register → /login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비로그인이 글쓰기 주소로 바로 들어오면 로그인 화면 → 로그인 후 복귀. 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① 허브 — 로그인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6/11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허브 — 로그인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5_pers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/community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로그인하면 허브에서 라운지·기술 글을 바로 쓸 수 있다.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개인·기업 역할 차이는 없다(둘 다 모든 기능 사용).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③ 글쓰기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7/11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글쓰기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6_pers_tech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/tech/register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중분류가 있는 게시판은 선택 필수, 기술 게시판만 기술태그.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저장하면 목록으로 이동.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수정은 작성자만(편집 중 새로고침하면 새 글 폼이 된다).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삭제는 소프트삭제, 딸린 답변도 함께 삭제. 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④ 반응 · ⑤ 답변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8/11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반응 · ⑤ 답변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7_pers_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/tech/{글번호}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추천 토글 · 댓글과 대댓글(1단계) · 신고(글·답변).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댓글 → 글 작성자에게 알림+메일.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작성자가 아닌 사람이 [답변 작성] → 질문자에게 알림+메일.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조회수 요청(PATCH increment-view)만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⑤ 채택·마감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9/11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⑤ 채택·마감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8_pers_owner_ado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/tech/{글번호} (작성자)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질문자가 답변을 채택(1502)하거나 [자체 해결]·[미해결]로 마감한다(한 번만).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채택된 답변을 지워도 글은 「채택완료」로 남는다.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④ 신고 — 기업도 같음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10/11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신고 — 기업도 같음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9_corp_repor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/tech/{글번호} → [신고]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회원도 글쓰기·답변·추천·신고를 똑같이 쓴다.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같은 글·답변을 여러 번 신고할 수 있다(안 고침).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조회수 요청(PATCH increment-view)만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레거시 게시판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단계 11/11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레거시 게시판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11_pers_legacy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/board/register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레거시 /board·/qna: 운영 글 0건, 상세는 400.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❌ /board/register·/qna/register 는 폼을 다 채운 뒤 제출해야 410 으로 막힌다.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상태 전이도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6. 커뮤니티 · 상태 전이도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질문 글(커리어·기술) 채택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4390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기업이 바꿈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9165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4405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개인이 바꿈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9180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667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028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질문 글 → 마감 (한 번만)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476500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2476500"/>
            <a:ext cx="1619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질문 등록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8500" y="2476500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8500" y="2552700"/>
            <a:ext cx="1619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진행중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8500" y="2800350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1501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500" y="1333500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E1EFED"/>
          </a:solidFill>
          <a:ln w="14287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7500" y="1409700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채택완료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16573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1502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0" y="2476500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ECEEED"/>
          </a:solidFill>
          <a:ln w="14287">
            <a:solidFill>
              <a:srgbClr val="7C8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2552700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자체해결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28003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1503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500" y="3619500"/>
            <a:ext cx="1809750" cy="590550"/>
          </a:xfrm>
          <a:prstGeom prst="roundRect">
            <a:avLst>
              <a:gd name="adj" fmla="val 12903"/>
            </a:avLst>
          </a:prstGeom>
          <a:solidFill>
            <a:srgbClr val="ECEEED"/>
          </a:solidFill>
          <a:ln w="14287">
            <a:solidFill>
              <a:srgbClr val="7C8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0" y="3695700"/>
            <a:ext cx="1809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미해결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3943350"/>
            <a:ext cx="1809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1504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90750" y="2771775"/>
            <a:ext cx="10287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47900" y="253365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작성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857750" y="1666875"/>
            <a:ext cx="1790700" cy="1000125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43500" y="15240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답변 채택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57750" y="2771775"/>
            <a:ext cx="17907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34000" y="253365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자체 해결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57750" y="2876550"/>
            <a:ext cx="1790700" cy="981075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34000" y="3667125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미해결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43250" y="31813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답변이 달리면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질문자에게 알림+메일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7750" y="142875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7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채택된 답변을 지워도</a:t>
            </a:r>
          </a:p>
          <a:p>
            <a:pPr algn="l">
              <a:lnSpc>
                <a:spcPct val="135000"/>
              </a:lnSpc>
            </a:pPr>
            <a:r>
              <a:rPr sz="97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「채택완료」로 남는다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7750" y="260985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질문자만 바꿀 수 있다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1000" y="5334000"/>
            <a:ext cx="11430000" cy="952500"/>
          </a:xfrm>
          <a:prstGeom prst="roundRect">
            <a:avLst>
              <a:gd name="adj" fmla="val 8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" y="5467350"/>
            <a:ext cx="1104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상태 변경은 질문자만, 한 번만 할 수 있다. 개인·기업 역할 차이 없음.</a:t>
            </a:r>
          </a:p>
          <a:p>
            <a:pPr algn="l">
              <a:lnSpc>
                <a:spcPct val="1530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글 삭제는 소프트삭제이고 딸린 답변도 함께 삭제된다. 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6. 커뮤니티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열람·참여·만들기와 면접후기 열람·작성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5715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번호 = 다음 장부터 이어지는 단계별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028700"/>
            <a:ext cx="11430000" cy="1423987"/>
          </a:xfrm>
          <a:prstGeom prst="roundRect">
            <a:avLst>
              <a:gd name="adj" fmla="val 4013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430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2509837"/>
            <a:ext cx="11430000" cy="1878806"/>
          </a:xfrm>
          <a:prstGeom prst="roundRect">
            <a:avLst>
              <a:gd name="adj" fmla="val 3041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2624137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4445793"/>
            <a:ext cx="11430000" cy="1878806"/>
          </a:xfrm>
          <a:prstGeom prst="roundRect">
            <a:avLst>
              <a:gd name="adj" fmla="val 3041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4560093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33650" y="159781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62400" y="5014912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38600" y="4938712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투표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24400" y="2433637"/>
            <a:ext cx="1428750" cy="2145506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76875" y="3430190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로그인 후 복귀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77400" y="159781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v01_guest_vot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11430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① 목록</a:t>
            </a:r>
          </a:p>
        </p:txBody>
      </p:sp>
      <p:pic>
        <p:nvPicPr>
          <p:cNvPr id="22" name="Picture 21" descr="v02_guest_vote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3" name="Rounded Rectangle 22"/>
          <p:cNvSpPr/>
          <p:nvPr/>
        </p:nvSpPr>
        <p:spPr>
          <a:xfrm>
            <a:off x="25717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7175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890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② 상세 — 비로그인</a:t>
            </a:r>
          </a:p>
        </p:txBody>
      </p:sp>
      <p:pic>
        <p:nvPicPr>
          <p:cNvPr id="26" name="Picture 25" descr="v05_guest_vote_register_redir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40005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05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76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만들기 직접 접근</a:t>
            </a:r>
          </a:p>
        </p:txBody>
      </p:sp>
      <p:pic>
        <p:nvPicPr>
          <p:cNvPr id="30" name="Picture 29" descr="v03_pers_vote_pi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1" name="Rounded Rectangle 30"/>
          <p:cNvSpPr/>
          <p:nvPr/>
        </p:nvSpPr>
        <p:spPr>
          <a:xfrm>
            <a:off x="257175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7175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890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③ 투표하기</a:t>
            </a:r>
          </a:p>
        </p:txBody>
      </p:sp>
      <p:pic>
        <p:nvPicPr>
          <p:cNvPr id="34" name="Picture 33" descr="v04_pers_vote_res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765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5" name="Rounded Rectangle 34"/>
          <p:cNvSpPr/>
          <p:nvPr/>
        </p:nvSpPr>
        <p:spPr>
          <a:xfrm>
            <a:off x="400050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0050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765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③ 결과</a:t>
            </a:r>
          </a:p>
        </p:txBody>
      </p:sp>
      <p:pic>
        <p:nvPicPr>
          <p:cNvPr id="38" name="Picture 37" descr="v06_pers_vote_regis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9" name="Rounded Rectangle 38"/>
          <p:cNvSpPr/>
          <p:nvPr/>
        </p:nvSpPr>
        <p:spPr>
          <a:xfrm>
            <a:off x="542925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2925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④ 만들기</a:t>
            </a:r>
          </a:p>
        </p:txBody>
      </p:sp>
      <p:pic>
        <p:nvPicPr>
          <p:cNvPr id="42" name="Picture 41" descr="v10_pers_vote_own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5150" y="4598193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3" name="Rounded Rectangle 42"/>
          <p:cNvSpPr/>
          <p:nvPr/>
        </p:nvSpPr>
        <p:spPr>
          <a:xfrm>
            <a:off x="6858000" y="45410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454104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5150" y="5488781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⑤ 삭제</a:t>
            </a:r>
          </a:p>
        </p:txBody>
      </p:sp>
      <p:pic>
        <p:nvPicPr>
          <p:cNvPr id="46" name="Picture 45" descr="v07_guest_interview_li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90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7" name="Rounded Rectangle 46"/>
          <p:cNvSpPr/>
          <p:nvPr/>
        </p:nvSpPr>
        <p:spPr>
          <a:xfrm>
            <a:off x="828675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675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390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면접후기 ① 목록</a:t>
            </a:r>
          </a:p>
        </p:txBody>
      </p:sp>
      <p:pic>
        <p:nvPicPr>
          <p:cNvPr id="50" name="Picture 49" descr="v08_guest_interview_det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2650" y="1181100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1" name="Rounded Rectangle 50"/>
          <p:cNvSpPr/>
          <p:nvPr/>
        </p:nvSpPr>
        <p:spPr>
          <a:xfrm>
            <a:off x="97155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155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72650" y="2071687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면접후기 ② 상세</a:t>
            </a:r>
          </a:p>
        </p:txBody>
      </p:sp>
      <p:pic>
        <p:nvPicPr>
          <p:cNvPr id="54" name="Picture 53" descr="v09_corp_interview_wr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2650" y="2662237"/>
            <a:ext cx="1333500" cy="833437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5" name="Rounded Rectangle 54"/>
          <p:cNvSpPr/>
          <p:nvPr/>
        </p:nvSpPr>
        <p:spPr>
          <a:xfrm>
            <a:off x="9715500" y="26050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15500" y="2605087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72650" y="3552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면접후기 ③ 작성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1000" y="6381750"/>
            <a:ext cx="1143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운영 현황(v1 기준): 투표 21건(진행 16, 마감 4, 삭제 1), 참여 576건. 면접후기 101건. 두 서비스 공통: 댓글·추천·신고·알림 없음.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단계 1/10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①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01_guest_vot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/vote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헤더 메가메뉴 [투표] · 커뮤니티 탭으로 들어온다.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카테고리 IT·일반, 최신순 고정.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[투표 만들기] 버튼은 로그인했을 때만 보인다.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투표 ② 상세 — 비로그인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단계 2/10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② 상세 — 비로그인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02_guest_vote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/vote/{번호} → [투표하기]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누구나 열람. 선택지는 고를 수 있지만 [투표하기]를 누르면 알림만 뜬다.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❌ 로그인 화면으로 보내지 않는다.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결과 막대는 투표 후 또는 마감 후에 보인다.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득표수는 투표 전에도 API 응답에 들어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조회수 요청(PATCH increment-view)만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투표 만들기 직접 접근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단계 3/10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만들기 직접 접근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05_guest_vote_register_re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/vote/register → /login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비로그인이 주소로 바로 들어오면 로그인 화면 → 로그인 후 복귀. 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투표 ③ 투표하기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단계 4/10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③ 투표하기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03_pers_vote_p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/vote/{번호}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선택지를 하나만 고른다. 개인·기업 역할 차이는 없다.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내 투표 확인 전엔 [투표하기]를 그리지 않는다.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만료 토큰도 자동 재발급돼, 이미 투표한 사람에게 [투표하기]가 다시 보이지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조회수 요청(PATCH increment-view)만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투표 ③ 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단계 5/10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③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04_pers_vot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/vote/{번호} (투표 후)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후 결과 막대(%)와 「내 선택」이 표시된다.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재투표·취소는 불가(중복이면 409).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마감일이 지나면 투표할 수 없다(자동 마감).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조회수 요청(PATCH increment-view)만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투표 ④ 만들기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단계 6/10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④ 만들기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06_pers_vote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/vote/register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제목·카테고리·마감일·선택지 2~10개(설명은 선택).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마감일은 날짜만 고르고 그날 23:59:59 마감, 오늘부터 고를 수 있다.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저장하면 목록으로 이동.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투표 ⑤ 삭제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단계 7/10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⑤ 삭제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10_pers_vote_ow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/vote/{번호} (작성자)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삭제는 작성자만 — 투표가 있어도 삭제할 수 있다.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수정은 관리자만.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조회수 요청(PATCH increment-view)만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면접후기 ① 목록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단계 8/10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면접후기 ①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07_guest_interview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/interview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헤더 [면접후기] · 메가메뉴 커리어 &gt; 면접으로 들어온다.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필터·검색 없음, 최신순 고정.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[후기 작성] 버튼은 로그인했을 때만 보인다.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면접후기 ② 상세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단계 9/10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면접후기 ②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08_guest_interview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/interview/{번호}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누구나 열람.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작성자 닉네임이 그대로 공개된다(익명 옵션 없음).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삭제는 작성자만 / 수정은 관리자만.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조회수 요청(PATCH increment-view)만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면접후기 ③ 작성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단계 10/10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면접후기 ③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09_corp_interview_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/interview/write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필수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: 회사명(자유 입력, 회사·공고와 연결 없음)·직무·경력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: 면접일·면접단계(복수)·질문·난이도·분위기·결과·제안연봉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 회원도 똑같이 쓸 수 있다.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주소로 바로 들어온 비로그인은 로그인 후 복귀. 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상태 전이도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7. 투표·면접후기 · 상태 전이도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진행·마감과 한 사람의 투표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4390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기업이 바꿈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9165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4405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개인이 바꿈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91800" y="609600"/>
            <a:ext cx="104775" cy="104775"/>
          </a:xfrm>
          <a:prstGeom prst="roundRect">
            <a:avLst>
              <a:gd name="adj" fmla="val 27272"/>
            </a:avLst>
          </a:prstGeom>
          <a:solidFill>
            <a:srgbClr val="667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571500"/>
            <a:ext cx="95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028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투표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095500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2095500"/>
            <a:ext cx="1619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만들기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8500" y="2095500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8500" y="2095500"/>
            <a:ext cx="1619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진행중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500" y="2095500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E1EFED"/>
          </a:solidFill>
          <a:ln w="14287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6500" y="2095500"/>
            <a:ext cx="1619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마감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8500" y="3810000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ECEEED"/>
          </a:solidFill>
          <a:ln w="14287">
            <a:solidFill>
              <a:srgbClr val="7C8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8500" y="3810000"/>
            <a:ext cx="1619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삭제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0750" y="2390775"/>
            <a:ext cx="10287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47900" y="215265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등록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57750" y="2390775"/>
            <a:ext cx="14097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914900" y="2152650"/>
            <a:ext cx="1333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마감일 23:59:59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48125" y="2686050"/>
            <a:ext cx="0" cy="110490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52900" y="31432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작성자 삭제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(투표가 있어도 가능)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28003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자동 마감 — 투표 불가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결과 막대 공개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82000" y="1143000"/>
            <a:ext cx="3429000" cy="3238500"/>
          </a:xfrm>
          <a:prstGeom prst="roundRect">
            <a:avLst>
              <a:gd name="adj" fmla="val 2352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72500" y="129540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2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한 사람의 투표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0" y="1638300"/>
            <a:ext cx="3048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선택지 하나만</a:t>
            </a:r>
          </a:p>
          <a:p>
            <a:pPr algn="l">
              <a:lnSpc>
                <a:spcPct val="1620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재투표·취소 불가(중복이면 409)</a:t>
            </a:r>
          </a:p>
          <a:p>
            <a:pPr algn="l">
              <a:lnSpc>
                <a:spcPct val="1620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투표 후 결과 막대(%) 표시</a:t>
            </a:r>
          </a:p>
          <a:p>
            <a:pPr algn="l">
              <a:lnSpc>
                <a:spcPct val="1620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수정은 관리자만</a:t>
            </a:r>
          </a:p>
          <a:p>
            <a:pPr algn="l">
              <a:lnSpc>
                <a:spcPct val="162000"/>
              </a:lnSpc>
            </a:pPr>
            <a:r>
              <a:rPr sz="1050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득표수는 투표 전에도 API 응답에 있음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000" y="4762500"/>
            <a:ext cx="11430000" cy="1524000"/>
          </a:xfrm>
          <a:prstGeom prst="roundRect">
            <a:avLst>
              <a:gd name="adj" fmla="val 5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" y="4895850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2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두 서비스 공통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5219700"/>
            <a:ext cx="11049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75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댓글·추천·신고·알림 없음. 면접후기는 상태 없이 작성 → 삭제(작성자)만 있다.</a:t>
            </a:r>
          </a:p>
          <a:p>
            <a:pPr algn="l">
              <a:lnSpc>
                <a:spcPct val="157500"/>
              </a:lnSpc>
            </a:pPr>
            <a:r>
              <a:rPr sz="1050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❌ 폼을 쓰는 도중 세션이 만료되면 제출할 때 /login 으로 가고, 입력한 내용이 사라진다.</a:t>
            </a:r>
          </a:p>
          <a:p>
            <a:pPr algn="l">
              <a:lnSpc>
                <a:spcPct val="157500"/>
              </a:lnSpc>
            </a:pPr>
            <a:r>
              <a:rPr sz="1050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검색·정렬(키워드, 오래된순, 조회순)은 백엔드에만 있고 화면에는 없다.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7. 투표·면접후기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공지·고객의 소리와 마이페이지·캘린더·알림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0" y="5715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번호 = 다음 장부터 이어지는 단계별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028700"/>
            <a:ext cx="11430000" cy="1267883"/>
          </a:xfrm>
          <a:prstGeom prst="roundRect">
            <a:avLst>
              <a:gd name="adj" fmla="val 4507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43000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2353733"/>
            <a:ext cx="11430000" cy="1956858"/>
          </a:xfrm>
          <a:prstGeom prst="roundRect">
            <a:avLst>
              <a:gd name="adj" fmla="val 292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2468033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" y="4367741"/>
            <a:ext cx="11430000" cy="1956858"/>
          </a:xfrm>
          <a:prstGeom prst="roundRect">
            <a:avLst>
              <a:gd name="adj" fmla="val 292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4482041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12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3883" y="1519766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41850" y="485880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20833" y="4858808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97033" y="4782608"/>
            <a:ext cx="95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BO 답변 → 2607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36933" y="2277533"/>
            <a:ext cx="0" cy="2223558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78800" y="4858808"/>
            <a:ext cx="1255183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57783" y="2844799"/>
            <a:ext cx="76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h01_guest_notic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181100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0" name="Rounded Rectangle 19"/>
          <p:cNvSpPr/>
          <p:nvPr/>
        </p:nvSpPr>
        <p:spPr>
          <a:xfrm>
            <a:off x="1143000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1915583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공지 ② 목록</a:t>
            </a:r>
          </a:p>
        </p:txBody>
      </p:sp>
      <p:pic>
        <p:nvPicPr>
          <p:cNvPr id="23" name="Picture 22" descr="h02_guest_notic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133" y="1181100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2321983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1983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9133" y="1915583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공지 상세</a:t>
            </a:r>
          </a:p>
        </p:txBody>
      </p:sp>
      <p:pic>
        <p:nvPicPr>
          <p:cNvPr id="27" name="Picture 26" descr="h03_pers_voc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116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28" name="Rounded Rectangle 27"/>
          <p:cNvSpPr/>
          <p:nvPr/>
        </p:nvSpPr>
        <p:spPr>
          <a:xfrm>
            <a:off x="3500966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0966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8116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VOC 목록</a:t>
            </a:r>
          </a:p>
        </p:txBody>
      </p:sp>
      <p:pic>
        <p:nvPicPr>
          <p:cNvPr id="31" name="Picture 30" descr="h04_pers_voc_regi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100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2" name="Rounded Rectangle 31"/>
          <p:cNvSpPr/>
          <p:nvPr/>
        </p:nvSpPr>
        <p:spPr>
          <a:xfrm>
            <a:off x="4679950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9950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7100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VOC ① 작성</a:t>
            </a:r>
          </a:p>
        </p:txBody>
      </p:sp>
      <p:pic>
        <p:nvPicPr>
          <p:cNvPr id="35" name="Picture 34" descr="h05_pers_voc_det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083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36" name="Rounded Rectangle 35"/>
          <p:cNvSpPr/>
          <p:nvPr/>
        </p:nvSpPr>
        <p:spPr>
          <a:xfrm>
            <a:off x="5858933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8933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16083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VOC ④ 답변 확인</a:t>
            </a:r>
          </a:p>
        </p:txBody>
      </p:sp>
      <p:pic>
        <p:nvPicPr>
          <p:cNvPr id="39" name="Picture 38" descr="h06_guest_mypage_redire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5066" y="1181100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0" name="Rounded Rectangle 39"/>
          <p:cNvSpPr/>
          <p:nvPr/>
        </p:nvSpPr>
        <p:spPr>
          <a:xfrm>
            <a:off x="7037916" y="1123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37916" y="112395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5066" y="1915583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마이페이지 접근</a:t>
            </a:r>
          </a:p>
        </p:txBody>
      </p:sp>
      <p:pic>
        <p:nvPicPr>
          <p:cNvPr id="43" name="Picture 42" descr="h07_pers_myp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5066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4" name="Rounded Rectangle 43"/>
          <p:cNvSpPr/>
          <p:nvPr/>
        </p:nvSpPr>
        <p:spPr>
          <a:xfrm>
            <a:off x="7037916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37916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5066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마이페이지 — 개인</a:t>
            </a:r>
          </a:p>
        </p:txBody>
      </p:sp>
      <p:pic>
        <p:nvPicPr>
          <p:cNvPr id="47" name="Picture 46" descr="h08_corp_myp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4050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48" name="Rounded Rectangle 47"/>
          <p:cNvSpPr/>
          <p:nvPr/>
        </p:nvSpPr>
        <p:spPr>
          <a:xfrm>
            <a:off x="8216900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6900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4050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마이페이지 — 기업</a:t>
            </a:r>
          </a:p>
        </p:txBody>
      </p:sp>
      <p:pic>
        <p:nvPicPr>
          <p:cNvPr id="51" name="Picture 50" descr="h09_pers_calend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3033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2" name="Rounded Rectangle 51"/>
          <p:cNvSpPr/>
          <p:nvPr/>
        </p:nvSpPr>
        <p:spPr>
          <a:xfrm>
            <a:off x="9395883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95883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53033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캘린더 — 개인</a:t>
            </a:r>
          </a:p>
        </p:txBody>
      </p:sp>
      <p:pic>
        <p:nvPicPr>
          <p:cNvPr id="55" name="Picture 54" descr="h10_corp_calend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53033" y="2506133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56" name="Rounded Rectangle 55"/>
          <p:cNvSpPr/>
          <p:nvPr/>
        </p:nvSpPr>
        <p:spPr>
          <a:xfrm>
            <a:off x="9395883" y="24489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95883" y="2448983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53033" y="3240616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캘린더 — 기업</a:t>
            </a:r>
          </a:p>
        </p:txBody>
      </p:sp>
      <p:pic>
        <p:nvPicPr>
          <p:cNvPr id="59" name="Picture 58" descr="h11_pers_bel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32016" y="4520141"/>
            <a:ext cx="1083733" cy="677333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0" name="Rounded Rectangle 59"/>
          <p:cNvSpPr/>
          <p:nvPr/>
        </p:nvSpPr>
        <p:spPr>
          <a:xfrm>
            <a:off x="10574866" y="446299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74866" y="4462991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32016" y="5254625"/>
            <a:ext cx="1083733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82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알림 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1000" y="6381750"/>
            <a:ext cx="11430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운영 현황(v1 기준): 알림 0건, 공지 0건, VOC 35건, 직접 등록한 일정 0건. 관리자(BO) 화면은 캡처하지 않았다.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1/11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공지 ②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01_guest_notic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/notice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관리자가 BO에서 공지를 쓰면(메일 없음) 탈퇴 회원을 뺀 전 회원에게 알림 2606. </a:t>
            </a: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누구나 열람, 고정글 기능 없음.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커뮤니티 허브 롤링배너가 공지를 표시 · 메인 하단 FAQ 2문항(고정 문구, 관리 기능 없음).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공지 상세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2/11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공지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02_guest_notic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/notice/{번호}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공지 상세에도 댓글 입력란이 보인다(댓글을 달면 관리자에게 알림).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0" y="5334000"/>
            <a:ext cx="3524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※ 캡처할 때는 조회수 요청(PATCH increment-view)만 막았습니다(화면은 실제와 같음).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VOC 목록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3/11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VOC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03_pers_voc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/voc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[고객의 소리] 탭은 로그인했을 때만 보인다(기업도 동일).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비공개 글은 본인·관리자만 열람.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목록에 답변 완료 여부 표시가 없다.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VOC ①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4/11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VOC ①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04_pers_voc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/voc/register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기본 비공개로 작성한다.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등록하면 관리자에게 메일 → ② BO에서 확인(답변 여부 필터).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VOC ④ 답변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5/11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VOC ④ 답변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05_pers_voc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/voc/{번호}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③ 관리자가 BO에서 답변을 등록하면 작성자에게 알림 2607 + 메일.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상세에서 「운영자 답변」을 확인한다.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수정·삭제는 작성자만(답변 후에도 가능).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마이페이지 접근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6/11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마이페이지 접근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06_guest_mypage_re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666750" cy="209550"/>
          </a:xfrm>
          <a:prstGeom prst="roundRect">
            <a:avLst>
              <a:gd name="adj" fmla="val 50000"/>
            </a:avLst>
          </a:prstGeom>
          <a:solidFill>
            <a:srgbClr val="EC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66675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7C8682"/>
                </a:solidFill>
                <a:latin typeface="Malgun Gothic"/>
                <a:ea typeface="Malgun Gothic"/>
                <a:cs typeface="Malgun Gothic"/>
              </a:rPr>
              <a:t>비로그인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 → /login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비로그인이 /mypage 로 가면 로그인 화면 → 로그인 후 복귀.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7C8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마이페이지 — 개인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7/11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마이페이지 — 개인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07_pers_my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 → /mypage/information-edit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대시보드 없이 정보수정으로 바로 이동한다.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사이드바: 캘린더·이력서·소속 3종·지원내역·스크랩·정보수정·탈퇴.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역할에 맞지 않는 메뉴로 가면 이유 표시 없이 정보수정으로 이동.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마이페이지 — 기업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8/11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마이페이지 — 기업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08_corp_my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 → /mypage/information-edit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사이드바: 캘린더·파트너 3종·공고목록·지원내역·스크랩·정보수정·탈퇴.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캘린더 — 개인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9/11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캘린더 — 개인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09_pers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/mypage/calendar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직접 일정(2401) 등록·수정·삭제 · 면접(2402) → 이력서 모달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스크랩 공고 마감(2403)·관심기업 공고(2404) → 공고 상세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검색(제목·회사명·전체)이 서버에 반영.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지난 직접 일정도 시작 일시를 안 바꾸면 수정 가능.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삭제된 공고는 안 보임 · 월 보기에 시작 시각, 시간순.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캘린더 — 기업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10/11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캘린더 — 기업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10_corp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기업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/mypage/calendar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직접 일정(2401) 동일 · 지원자 면접(2402)</a:t>
            </a:r>
          </a:p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자사 공고 모집기간(2403) · 관심기업 공고(2404) 동일.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알림 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단계 11/11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알림 벨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11_pers_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7620000" cy="4762500"/>
          </a:xfrm>
          <a:prstGeom prst="rect">
            <a:avLst/>
          </a:prstGeom>
          <a:ln w="9525">
            <a:solidFill>
              <a:srgbClr val="D5D9D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286750" y="106680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1066800"/>
            <a:ext cx="419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개인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0" y="1371600"/>
            <a:ext cx="3524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헤더 알림 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6750" y="1638300"/>
            <a:ext cx="3524250" cy="9525"/>
          </a:xfrm>
          <a:prstGeom prst="rect">
            <a:avLst/>
          </a:prstGeom>
          <a:solidFill>
            <a:srgbClr val="D5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6750" y="1771650"/>
            <a:ext cx="35242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500"/>
              </a:lnSpc>
            </a:pPr>
            <a:r>
              <a:rPr sz="112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로그인했을 때만 보인다. 최신 20건 · 읽음 · 삭제 · 모두 읽음(메일은 send 경로만).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벨을 열 때 목록·개수, 화면을 옮길 때 개수 재조회.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20건이 차면 「최근 20건까지 표시」 안내.</a:t>
            </a:r>
          </a:p>
          <a:p>
            <a:pPr algn="l">
              <a:lnSpc>
                <a:spcPct val="148500"/>
              </a:lnSpc>
            </a:pPr>
            <a:r>
              <a:rPr sz="1125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알림을 누르면 팝오버가 닫힌다.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8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097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526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26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55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55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84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384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13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13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42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42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671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71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0" y="603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B86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0000" y="6038850"/>
            <a:ext cx="26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769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다음 → VOC·캘린더·알림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4765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8. 고객센터·마이페이지 · VOC·캘린더·알림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3815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9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고객의 소리 왕복과 캘린더 일정 종류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76300"/>
            <a:ext cx="11430000" cy="19050"/>
          </a:xfrm>
          <a:prstGeom prst="rect">
            <a:avLst/>
          </a:prstGeom>
          <a:solidFill>
            <a:srgbClr val="1D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1000" y="1028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고객의 소리(VOC)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428750"/>
            <a:ext cx="190500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000" y="15049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① 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752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기본 비공개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43250" y="1428750"/>
            <a:ext cx="1905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7">
            <a:solidFill>
              <a:srgbClr val="D5D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43250" y="15049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② BO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3250" y="1752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답변 여부 필터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05500" y="1428750"/>
            <a:ext cx="1905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4287">
            <a:solidFill>
              <a:srgbClr val="D5D9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5500" y="15049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③ 답변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0" y="1752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관리자(BO)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67750" y="1428750"/>
            <a:ext cx="1905000" cy="590550"/>
          </a:xfrm>
          <a:prstGeom prst="roundRect">
            <a:avLst>
              <a:gd name="adj" fmla="val 12903"/>
            </a:avLst>
          </a:prstGeom>
          <a:solidFill>
            <a:srgbClr val="F7EADC"/>
          </a:solidFill>
          <a:ln w="14287">
            <a:solidFill>
              <a:srgbClr val="B86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7750" y="15049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1275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④ 답변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0" y="1752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7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상세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1724025"/>
            <a:ext cx="838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43150" y="1485900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메일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48250" y="1724025"/>
            <a:ext cx="838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0500" y="1724025"/>
            <a:ext cx="838200" cy="0"/>
          </a:xfrm>
          <a:prstGeom prst="line">
            <a:avLst/>
          </a:prstGeom>
          <a:ln w="15240">
            <a:solidFill>
              <a:srgbClr val="6670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29550" y="1466850"/>
            <a:ext cx="819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1500"/>
              </a:lnSpc>
            </a:pPr>
            <a:r>
              <a:rPr sz="900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2607+메일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2152650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975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수정·삭제는 작성자만(답변 후에도 가능)  ·  </a:t>
            </a:r>
            <a:r>
              <a:rPr sz="975" b="1">
                <a:solidFill>
                  <a:srgbClr val="B8322F"/>
                </a:solidFill>
                <a:latin typeface="Malgun Gothic"/>
                <a:ea typeface="Malgun Gothic"/>
                <a:cs typeface="Malgun Gothic"/>
              </a:rPr>
              <a:t>⚠ 목록에 답변 완료 여부 표시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2857500"/>
            <a:ext cx="5524500" cy="3143250"/>
          </a:xfrm>
          <a:prstGeom prst="roundRect">
            <a:avLst>
              <a:gd name="adj" fmla="val 2424"/>
            </a:avLst>
          </a:prstGeom>
          <a:solidFill>
            <a:srgbClr val="F7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3009900"/>
            <a:ext cx="5143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275" b="1">
                <a:solidFill>
                  <a:srgbClr val="B8641D"/>
                </a:solidFill>
                <a:latin typeface="Malgun Gothic"/>
                <a:ea typeface="Malgun Gothic"/>
                <a:cs typeface="Malgun Gothic"/>
              </a:rPr>
              <a:t>캘린더 일정 종류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371850"/>
            <a:ext cx="514350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2401</a:t>
            </a: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 직접 일정 — 등록·수정·삭제(개인·기업)</a:t>
            </a:r>
          </a:p>
          <a:p>
            <a:pPr algn="l">
              <a:lnSpc>
                <a:spcPct val="162000"/>
              </a:lnSpc>
            </a:pPr>
            <a:r>
              <a:rPr sz="10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2402</a:t>
            </a: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 면접 — 개인: 이력서 모달 / 기업: 지원자 면접</a:t>
            </a:r>
          </a:p>
          <a:p>
            <a:pPr algn="l">
              <a:lnSpc>
                <a:spcPct val="162000"/>
              </a:lnSpc>
            </a:pPr>
            <a:r>
              <a:rPr sz="10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2403</a:t>
            </a: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 개인: 스크랩 공고 마감 / 기업: 자사 공고 모집기간</a:t>
            </a:r>
          </a:p>
          <a:p>
            <a:pPr algn="l">
              <a:lnSpc>
                <a:spcPct val="162000"/>
              </a:lnSpc>
            </a:pPr>
            <a:r>
              <a:rPr sz="1050" b="1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2404</a:t>
            </a: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 관심기업 공고 → 공고 상세</a:t>
            </a:r>
          </a:p>
          <a:p>
            <a:pPr algn="l">
              <a:lnSpc>
                <a:spcPct val="162000"/>
              </a:lnSpc>
            </a:pPr>
            <a:r>
              <a:rPr sz="105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검색이 서버에 반영 · 삭제된 공고는 안 보임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2857500"/>
            <a:ext cx="5524500" cy="3143250"/>
          </a:xfrm>
          <a:prstGeom prst="roundRect">
            <a:avLst>
              <a:gd name="adj" fmla="val 2424"/>
            </a:avLst>
          </a:prstGeom>
          <a:solidFill>
            <a:srgbClr val="E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100" y="3009900"/>
            <a:ext cx="5143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1275" b="1">
                <a:solidFill>
                  <a:srgbClr val="1F6F6B"/>
                </a:solidFill>
                <a:latin typeface="Malgun Gothic"/>
                <a:ea typeface="Malgun Gothic"/>
                <a:cs typeface="Malgun Gothic"/>
              </a:rPr>
              <a:t>알림 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100" y="3371850"/>
            <a:ext cx="514350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로그인했을 때만 · 최신 20건 · 읽음 · 삭제 · 모두 읽음</a:t>
            </a:r>
          </a:p>
          <a:p>
            <a:pPr algn="l">
              <a:lnSpc>
                <a:spcPct val="162000"/>
              </a:lnSpc>
            </a:pPr>
            <a:r>
              <a:rPr sz="1050" b="0">
                <a:solidFill>
                  <a:srgbClr val="1D2321"/>
                </a:solidFill>
                <a:latin typeface="Malgun Gothic"/>
                <a:ea typeface="Malgun Gothic"/>
                <a:cs typeface="Malgun Gothic"/>
              </a:rPr>
              <a:t>공지 2606(탈퇴 회원 제외 전 회원) · VOC 답변 2607</a:t>
            </a:r>
          </a:p>
          <a:p>
            <a:pPr algn="l">
              <a:lnSpc>
                <a:spcPct val="162000"/>
              </a:lnSpc>
            </a:pPr>
            <a:r>
              <a:rPr sz="105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관심기업 새 공고 알림(2604) → 공고 상세</a:t>
            </a:r>
          </a:p>
          <a:p>
            <a:pPr algn="l">
              <a:lnSpc>
                <a:spcPct val="162000"/>
              </a:lnSpc>
            </a:pPr>
            <a:r>
              <a:rPr sz="105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새 지원자·지원 취소 알림 → 지원현황 모달 자동 열림</a:t>
            </a:r>
          </a:p>
          <a:p>
            <a:pPr algn="l">
              <a:lnSpc>
                <a:spcPct val="162000"/>
              </a:lnSpc>
            </a:pPr>
            <a:r>
              <a:rPr sz="1050" b="1">
                <a:solidFill>
                  <a:srgbClr val="2F6FB8"/>
                </a:solidFill>
                <a:latin typeface="Malgun Gothic"/>
                <a:ea typeface="Malgun Gothic"/>
                <a:cs typeface="Malgun Gothic"/>
              </a:rPr>
              <a:t>🔧 벨을 열 때 목록·개수, 화면을 옮길 때 개수 재조회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000" y="6591300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서비스 흐름도 v2 · 8. 고객센터·마이페이지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91300"/>
            <a:ext cx="952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1500"/>
              </a:lnSpc>
            </a:pPr>
            <a:r>
              <a:rPr sz="825" b="0">
                <a:solidFill>
                  <a:srgbClr val="66706C"/>
                </a:solidFill>
                <a:latin typeface="Malgun Gothic"/>
                <a:ea typeface="Malgun Gothic"/>
                <a:cs typeface="Malgun Gothic"/>
              </a:rPr>
              <a:t>103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